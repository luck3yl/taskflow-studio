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大家好，欢迎参加集团2026年第一季度总结汇报会。今天，我们将共同回顾Q1的工作成果，分析存在的问题，并对第二季度的工作进行规划和部署。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六个部分，首先我们将概览Q1的整体业绩，然后详细分析核心目标的达成情况和重点工作进展。接着，我们会深入探讨当前存在的问题与挑战，并在此基础上提出第二季度的工作计划，最后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看一下第一季度的整体业绩概览。从关键指标来看，我们在营收、利润等方面取得了显著成绩，市场份额和客户满意度也保持了稳步增长的态势。其中，净利润同比增长22.4%表现尤为突出，值得肯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对照年初设定的核心目标，逐一检查完成情况。从整体来看，我们的目标达成率为88%，其中年度营收增长目标已超额完成，核心产品研发正在按计划推进，而数字化人才储备由于高端人才市场竞争激烈未能达成预期，需要我们在后续工作中重点关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第一季度，我们聚焦于几项重点工作的推进。战略规划与部署工作已经取得了阶段性成果，完成了年度蓝图设计；业务增长方面也按计划完成了关键里程碑，实现了15%的季度增长。同时，数字化体系建设稳步推进，ERP系统成功升级。这些工作的顺利推进，为集团全年目标的实现奠定了坚实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肯定成绩的同时，我们也要清醒地认识到工作中存在的问题和面临的挑战。例如，部分业务线增长乏力，跨部门协作效率有待提升等。针对这些问题，我们需要深入分析原因，并制定相应的改进措施，以确保后续工作的顺利开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第一季度的工作回顾和问题分析，我们制定了第二季度的工作计划。本季度，我们将重点围绕营收增长和系统升级这两个核心目标展开工作。通过加大市场推广力度、优化内部流程以及加强团队培训等关键举措的实施，力争在第二季度实现市场份额提升5%、运营成本降低10%的预期成果，确保各项业务指标达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第一季度的工作已经结束，既有成绩也有不足。希望大家在第二季度能够总结经验，改进不足，继续保持积极进取的工作态度，为实现集团全年的战略目标而努力奋斗！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我的汇报到此结束，再次感谢各位的聆听！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notesSlides/notesSlide2.xml" Type="http://schemas.openxmlformats.org/officeDocument/2006/relationships/notesSlid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notesSlides/notesSlide6.xml" Type="http://schemas.openxmlformats.org/officeDocument/2006/relationships/notesSlid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notesSlides/notesSlide9.xml" Type="http://schemas.openxmlformats.org/officeDocument/2006/relationships/notesSlide"/><Relationship Id="rId9" Target="../media/image6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FBBF24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10800000" flipH="false" flipV="false">
            <a:off x="9652000" y="4318000"/>
            <a:ext cx="3810000" cy="3810000"/>
          </a:xfrm>
          <a:prstGeom prst="triangle">
            <a:avLst/>
          </a:prstGeom>
          <a:solidFill>
            <a:srgbClr val="FFFFFF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集团Q1季度总结汇报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168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FBBF2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342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2026年第一季度工作回顾与展望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921000" y="5461000"/>
            <a:ext cx="254000" cy="254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3238500" y="54356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汇报单位：集团总部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228255" flipH="false" flipV="false">
            <a:off x="5969000" y="5581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54610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667500" y="5435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日期：2026年4月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 录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762040" y="177165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AB30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2159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476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14500" y="24130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季度业绩概览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14500" y="2857500"/>
            <a:ext cx="4000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回顾Q1整体营收与利润指标，分析核心业务增长趋势。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2159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24765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175500" y="24130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核心目标达成情况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75500" y="2857500"/>
            <a:ext cx="4000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拆解关键绩效指标(KPI)，评估各项核心目标的完成度。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0005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14500" y="42545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重点工作进展回顾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14500" y="4699000"/>
            <a:ext cx="4000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总结重点项目里程碑节点，复盘执行过程中的关键成果。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0005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43180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175500" y="42545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存在问题与挑战分析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175500" y="4699000"/>
            <a:ext cx="4000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深入剖析当前业务痛点，识别外部市场与内部管理的挑战。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842000"/>
            <a:ext cx="5207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6032500"/>
            <a:ext cx="381000" cy="381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524000" y="5994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第二季度工作计划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5842000"/>
            <a:ext cx="5207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77000" y="6032500"/>
            <a:ext cx="381000" cy="381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85000" y="5994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总结与展望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B1C3D">
                <a:alpha val="100000"/>
              </a:srgbClr>
            </a:gs>
            <a:gs pos="100000">
              <a:srgbClr val="1C376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季度业绩概览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2032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总营收 (亿元)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76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12.5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9845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同比增长 15.2% ▲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778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203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2032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净利润 (亿元)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476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3.8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29845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同比增长 22.4% ▲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810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064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06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市场份额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508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28.5%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0165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同比上升 2.3 个百分点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3810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4064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85000" y="406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客户满意度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4508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98.2%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50165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同比上升 1.5 个百分点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核心目标达成情况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203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年度营收增长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603500"/>
            <a:ext cx="2794000" cy="1016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03500"/>
            <a:ext cx="2794000" cy="101600"/>
          </a:xfrm>
          <a:prstGeom prst="roundRect">
            <a:avLst>
              <a:gd name="adj" fmla="val 50000"/>
            </a:avLst>
          </a:prstGeom>
          <a:solidFill>
            <a:srgbClr val="FBBF2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794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020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● 状态：已完成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683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市场拓展顺利，大客户签约数量超出预期，带动整体营收增长。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207000" y="203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核心产品研发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2603500"/>
            <a:ext cx="2794000" cy="1016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2603500"/>
            <a:ext cx="2374900" cy="101600"/>
          </a:xfrm>
          <a:prstGeom prst="roundRect">
            <a:avLst>
              <a:gd name="adj" fmla="val 50000"/>
            </a:avLst>
          </a:prstGeom>
          <a:solidFill>
            <a:srgbClr val="FBBF2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99000" y="2794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85%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完成率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99000" y="33020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● 状态：进行中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99000" y="3683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关键技术攻关已完成，正在进行最后的系统集成测试，预计下月交付。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890000" y="203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数字化人才储备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82000" y="2603500"/>
            <a:ext cx="2794000" cy="1016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82000" y="2603500"/>
            <a:ext cx="1676400" cy="101600"/>
          </a:xfrm>
          <a:prstGeom prst="roundRect">
            <a:avLst>
              <a:gd name="adj" fmla="val 50000"/>
            </a:avLst>
          </a:prstGeom>
          <a:solidFill>
            <a:srgbClr val="FBBF2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82000" y="2794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60%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完成率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382000" y="33020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● 状态：未完成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82000" y="3683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高端技术人才市场竞争激烈，招聘周期长，导致团队组建进度滞后。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33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BBF24">
              <a:alpha val="15000"/>
            </a:srgbClr>
          </a:solidFill>
          <a:ln w="12700" cmpd="sng" cap="flat">
            <a:solidFill>
              <a:srgbClr val="FBBF2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588000"/>
            <a:ext cx="508000" cy="5080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1651000" y="5524500"/>
            <a:ext cx="952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整体目标达成率：</a:t>
            </a:r>
            <a:r>
              <a:rPr lang="en-US" b="true" i="false" strike="noStrike" u="none" sz="24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88%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整体表现良好，需重点关注人才招聘短板。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B1C3D">
                <a:alpha val="100000"/>
              </a:srgbClr>
            </a:gs>
            <a:gs pos="100000">
              <a:srgbClr val="19375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重点工作进展回顾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1016000" cy="508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286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5908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74800" y="25654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战略规划与部署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6215" flipH="false" flipV="false">
            <a:off x="1066815" y="3105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66800" y="3238500"/>
            <a:ext cx="2692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项目进展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已完成年度战略蓝图设计，达成跨部门协作共识，确立核心业务方向。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" y="41910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关键里程碑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52400" marL="1524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完成Q1季度目标拆解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marL="1524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签署战略合作协议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marL="1524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组建专项攻坚小组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286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49800" y="25908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257800" y="25654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业务增长与突破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6215" flipH="false" flipV="false">
            <a:off x="4749815" y="3105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749800" y="3238500"/>
            <a:ext cx="2692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项目进展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核心业务线实现季度增长15%，成功拓展2个新区域市场，用户活跃度提升显著。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749800" y="41910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关键里程碑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52400" marL="1524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新产品上线并获好评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marL="1524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完成年度营收目标30%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marL="1524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建立客户满意度体系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2286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432800" y="25908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940800" y="25654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数字化体系建设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6215" flipH="false" flipV="false">
            <a:off x="8432815" y="31051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432800" y="3238500"/>
            <a:ext cx="2692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项目进展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完成ERP系统升级，数据中台初步搭建，实现业务流程自动化率提升至60%。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432800" y="4191000"/>
            <a:ext cx="2692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4AF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关键里程碑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52400" marL="1524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数据仓库正式上线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marL="1524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移动端办公APP发布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marL="152400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数字化人才培训完成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存在问题与挑战分析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核心问题诊断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9046" flipH="false" flipV="false">
            <a:off x="762008" y="2089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BBF24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476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2438400"/>
            <a:ext cx="3937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业务增长乏力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部分核心业务线增速放缓，未能达到预期目标，市场份额面临被挤压的风险。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556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3708400"/>
            <a:ext cx="3937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协作效率瓶颈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跨部门沟通流程繁琐，信息传递存在壁垒，导致项目响应速度滞后。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826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016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60500" y="4978400"/>
            <a:ext cx="3937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市场竞争加剧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竞争对手推出同质化产品，价格战压力增大，品牌差异化优势逐渐减弱。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651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02 挑战应对与改进思路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9046" flipH="false" flipV="false">
            <a:off x="6350008" y="2089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BBF24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350000" y="2286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04000" y="2476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48500" y="2438400"/>
            <a:ext cx="3937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策略优化与创新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加大研发投入，探索新增长点；优化营销策略，提升精准获客能力。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3556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3746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048500" y="3708400"/>
            <a:ext cx="3937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流程重构与协同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建立跨部门联合项目组，引入数字化协作工具，简化审批流程，提升效率。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50000" y="4826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50165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048500" y="4978400"/>
            <a:ext cx="3937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品牌护城河构建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强化品牌价值主张，深耕用户体验，建立技术壁垒，提升核心竞争力。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第二季度工作计划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1016000" cy="50800"/>
          </a:xfrm>
          <a:prstGeom prst="roundRect">
            <a:avLst>
              <a:gd name="adj" fmla="val 0"/>
            </a:avLst>
          </a:prstGeom>
          <a:solidFill>
            <a:srgbClr val="EAB30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286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5908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74800" y="25654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6215" flipH="false" flipV="false">
            <a:off x="1066815" y="30924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66800" y="3302000"/>
            <a:ext cx="203200" cy="203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71600" y="32766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实现季度营收突破 1.2 亿元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66800" y="3810000"/>
            <a:ext cx="203200" cy="203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71600" y="37846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完成核心业务系统升级上线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66800" y="4318000"/>
            <a:ext cx="203200" cy="203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71600" y="42926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提升客户满意度至 95% 以上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5000" y="2286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749800" y="25908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257800" y="25654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关键举措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6215" flipH="false" flipV="false">
            <a:off x="4749815" y="30924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8" id="1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49800" y="3302000"/>
            <a:ext cx="203200" cy="203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054600" y="32766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加大线上线下全渠道推广力度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49800" y="3810000"/>
            <a:ext cx="203200" cy="203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054600" y="37846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优化内部审批流程，提升效率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49800" y="4318000"/>
            <a:ext cx="203200" cy="2032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5054600" y="42926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开展全员技能培训与考核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0" y="2286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432800" y="25908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940800" y="25654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预期成果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16215" flipH="false" flipV="false">
            <a:off x="8432815" y="30924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8" id="2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432800" y="3302000"/>
            <a:ext cx="203200" cy="2032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8737600" y="32766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市场份额提升 5%，品牌影响力扩大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432800" y="3810000"/>
            <a:ext cx="203200" cy="2032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8737600" y="37846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运营成本降低 10%，人效显著提升</a:t>
            </a:r>
            <a:endParaRPr lang="en-US" sz="1100"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432800" y="4318000"/>
            <a:ext cx="203200" cy="2032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8737600" y="42926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团队专业能力提升，凝聚力增强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B1C3D">
                <a:alpha val="100000"/>
              </a:srgbClr>
            </a:gs>
            <a:gs pos="100000">
              <a:srgbClr val="1C375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095500" y="2413000"/>
            <a:ext cx="635000" cy="635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3175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回顾 Q1 工作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8647" flipH="false" flipV="false">
            <a:off x="1651026" y="3676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C10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38735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全面复盘第一季度工作成果，肯定团队取得的阶段性胜利，同时正视存在的问题与挑战。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032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78500" y="2413000"/>
            <a:ext cx="635000" cy="635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3175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展望 Q2 业绩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28647" flipH="false" flipV="false">
            <a:off x="5334026" y="3676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C10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99000" y="38735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激励团队在第二季度乘势而上，优化策略，攻克难关，争取创造更优异的业绩表现。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032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461500" y="2413000"/>
            <a:ext cx="635000" cy="635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3175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凝聚全员力量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28647" flipH="false" flipV="false">
            <a:off x="9017026" y="3676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C10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38735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号召全体员工齐心协力，凝聚共识，以饱满的热情共同完成年度战略目标。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4AF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032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857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69" flipH="false" flipV="false">
            <a:off x="5588040" y="3422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4AF3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791200" y="3683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286000" y="43815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集团名称 / Group Name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937000" y="5334000"/>
            <a:ext cx="203200" cy="203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191000" y="52832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+86 10-8888-8888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223000" y="5334000"/>
            <a:ext cx="203200" cy="203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477000" y="52832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contact@company.com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