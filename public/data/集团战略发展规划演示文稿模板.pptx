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  <p:sldMasterId id="2147483660" r:id="rId2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4391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8097360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7268E1E-0E44-426D-905E-8AD9B19D2182}" type="datetimeFigureOut">
              <a:rPr lang="cs-CZ"/>
              <a:t>1.7.2013</a:t>
            </a:fld>
            <a:endParaRPr lang="cs-CZ"/>
          </a:p>
        </p:txBody>
      </p:sp>
      <p:sp>
        <p:nvSpPr>
          <p:cNvPr id="85300746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cs-CZ"/>
          </a:p>
        </p:txBody>
      </p:sp>
      <p:sp>
        <p:nvSpPr>
          <p:cNvPr id="13695206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cs-CZ"/>
          </a:p>
        </p:txBody>
      </p:sp>
      <p:sp>
        <p:nvSpPr>
          <p:cNvPr id="6359672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01922017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71B2431-D351-4C6E-A3CF-9DFAC0E3E050}" type="slidenum">
              <a:rPr lang="cs-CZ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5811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941485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5008655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302832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大家好，欢迎参加本次集团战略发展规划发布会。今天，我们将共同探讨集团未来五年的发展蓝图，明确我们的战略方向、目标与核心举措，为集团的持续增长和行业领先地位奠定坚实基础。</a:t>
            </a:r>
            <a:endParaRPr/>
          </a:p>
        </p:txBody>
      </p:sp>
      <p:sp>
        <p:nvSpPr>
          <p:cNvPr id="1992145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65618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0047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57369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57247067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4018246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，首先我们将分析当前的战略背景与形势，明确我们面临的机遇与挑战。接着，我们将重申集团的愿景、使命与价值观，并提出未来五年的总体战略目标和核心战略。之后，会详细阐述各业务板块的具体规划、关键战略举措、资源保障措施以及风险管控方案，最后进行总结与展望。</a:t>
            </a:r>
            <a:endParaRPr/>
          </a:p>
        </p:txBody>
      </p:sp>
      <p:sp>
        <p:nvSpPr>
          <p:cNvPr id="4701048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663314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5165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995407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82400691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961227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在制定新的战略之前，我们必须清晰地认识我们所处的环境。本章节将从宏观环境、行业竞争格局以及内部能力三个维度进行分析，明确我们面临的挑战与机遇，为后续战略的制定提供依据。</a:t>
            </a:r>
            <a:endParaRPr/>
          </a:p>
        </p:txBody>
      </p:sp>
      <p:sp>
        <p:nvSpPr>
          <p:cNvPr id="328723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799535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95216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011944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38530145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2773667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我们的战略规划始终围绕着集团的愿景、使命和核心价值观展开。这是我们一切行动的出发点和归宿，指引我们在未来五年乃至更长远的发展道路上，不忘初心，砥砺前行。</a:t>
            </a:r>
            <a:endParaRPr/>
          </a:p>
        </p:txBody>
      </p:sp>
      <p:sp>
        <p:nvSpPr>
          <p:cNvPr id="128326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134462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5390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557946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46331089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378763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基于形势分析和我们的愿景使命，我们制定了未来五年的总体战略目标，并确立了四大核心战略作为实现目标的关键路径。这些目标和战略将是指导我们未来一切工作的纲领。</a:t>
            </a:r>
            <a:endParaRPr/>
          </a:p>
        </p:txBody>
      </p:sp>
      <p:sp>
        <p:nvSpPr>
          <p:cNvPr id="20309541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144391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2349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370540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8155383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783669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集团的总体战略需要分解到各个业务板块来执行。本章节将详细阐述各业务板块的具体战略规划，明确各自的定位、目标和发展策略，确保集团整体战略的有效落地。</a:t>
            </a:r>
            <a:endParaRPr/>
          </a:p>
        </p:txBody>
      </p:sp>
      <p:sp>
        <p:nvSpPr>
          <p:cNvPr id="13591592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990757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5406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461424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97057122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682325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为了确保战略目标的实现，我们制定了清晰的实施路径和关键举措。这些举措将分阶段、有步骤地推进，确保集团战略能够有条不紊地落地执行，并在关键节点取得预期成果。</a:t>
            </a:r>
            <a:endParaRPr/>
          </a:p>
        </p:txBody>
      </p:sp>
      <p:sp>
        <p:nvSpPr>
          <p:cNvPr id="5843193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898615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3789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949575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78020234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16837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战略的成功实施离不开充足的资源保障和有效的风险管控。我们将从人力、财务、技术等方面提供全方位支持，并建立完善的风险预警和应对机制，确保战略目标的顺利实现。</a:t>
            </a:r>
            <a:endParaRPr/>
          </a:p>
        </p:txBody>
      </p:sp>
      <p:sp>
        <p:nvSpPr>
          <p:cNvPr id="13854215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072766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1625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271326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2472698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0275469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最后，我们对本次战略规划进行简要总结。这份规划描绘了集团未来五年的发展蓝图，充满了机遇与挑战。我们坚信，在全体员工的共同努力下，我们一定能够实现既定目标，开创集团发展的新篇章！谢谢大家！</a:t>
            </a:r>
            <a:endParaRPr/>
          </a:p>
        </p:txBody>
      </p:sp>
      <p:sp>
        <p:nvSpPr>
          <p:cNvPr id="17661593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205426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1320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63681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1.7.2013</a:t>
            </a:r>
            <a:endParaRPr/>
          </a:p>
        </p:txBody>
      </p:sp>
      <p:sp>
        <p:nvSpPr>
          <p:cNvPr id="162701262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57002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我的汇报到此结束，再次感谢各位的聆听！</a:t>
            </a:r>
            <a:endParaRPr/>
          </a:p>
        </p:txBody>
      </p:sp>
      <p:sp>
        <p:nvSpPr>
          <p:cNvPr id="11475056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39519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标题幻灯片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140760" name="Shape 30"/>
          <p:cNvSpPr txBox="1"/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5884410" name="Shape 31"/>
          <p:cNvSpPr txBox="1"/>
          <p:nvPr>
            <p:ph type="subTitle" idx="1"/>
          </p:nvPr>
        </p:nvSpPr>
        <p:spPr bwMode="auto"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1249739" name="Shape 32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6833728" name="Shape 33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3058361" name="Shape 34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标题和内容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261024" name="Shape 54"/>
          <p:cNvSpPr txBox="1"/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9133899" name="Shape 55"/>
          <p:cNvSpPr txBox="1"/>
          <p:nvPr>
            <p:ph type="body" idx="1"/>
          </p:nvPr>
        </p:nvSpPr>
        <p:spPr bwMode="auto"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08759189" name="Shape 56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1114453" name="Shape 57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8676038" name="Shape 58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节标题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830453" name="Shape 59"/>
          <p:cNvSpPr txBox="1"/>
          <p:nvPr>
            <p:ph type="title"/>
          </p:nvPr>
        </p:nvSpPr>
        <p:spPr bwMode="auto"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0529711" name="Shape 60"/>
          <p:cNvSpPr txBox="1"/>
          <p:nvPr>
            <p:ph type="body" idx="1"/>
          </p:nvPr>
        </p:nvSpPr>
        <p:spPr bwMode="auto"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36407171" name="Shape 61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7299191" name="Shape 62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15862979" name="Shape 63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两栏内容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862724" name="Shape 9"/>
          <p:cNvSpPr txBox="1"/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9668201" name="Shape 10"/>
          <p:cNvSpPr txBox="1"/>
          <p:nvPr>
            <p:ph type="body" idx="1"/>
          </p:nvPr>
        </p:nvSpPr>
        <p:spPr bwMode="auto"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3046389" name="Shape 11"/>
          <p:cNvSpPr txBox="1"/>
          <p:nvPr>
            <p:ph type="body" idx="2"/>
          </p:nvPr>
        </p:nvSpPr>
        <p:spPr bwMode="auto"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3922879" name="Shape 12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7210788" name="Shape 13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1812072" name="Shape 14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比较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266884" name="Shape 35"/>
          <p:cNvSpPr txBox="1"/>
          <p:nvPr>
            <p:ph type="title"/>
          </p:nvPr>
        </p:nvSpPr>
        <p:spPr bwMode="auto"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6972329" name="Shape 36"/>
          <p:cNvSpPr txBox="1"/>
          <p:nvPr>
            <p:ph type="body" idx="1"/>
          </p:nvPr>
        </p:nvSpPr>
        <p:spPr bwMode="auto"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1389229377" name="Shape 37"/>
          <p:cNvSpPr txBox="1"/>
          <p:nvPr>
            <p:ph type="body" idx="2"/>
          </p:nvPr>
        </p:nvSpPr>
        <p:spPr bwMode="auto"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0553782" name="Shape 38"/>
          <p:cNvSpPr txBox="1"/>
          <p:nvPr>
            <p:ph type="body" idx="3"/>
          </p:nvPr>
        </p:nvSpPr>
        <p:spPr bwMode="auto"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2028991248" name="Shape 39"/>
          <p:cNvSpPr txBox="1"/>
          <p:nvPr>
            <p:ph type="body" idx="4"/>
          </p:nvPr>
        </p:nvSpPr>
        <p:spPr bwMode="auto"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2409391" name="Shape 40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5923017" name="Shape 41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6127823" name="Shape 42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仅标题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268026" name="Shape 20"/>
          <p:cNvSpPr txBox="1"/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4030279" name="Shape 21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5093041" name="Shape 22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6714332" name="Shape 23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空白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902294" name="Shape 6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5326466" name="Shape 7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6115691" name="Shape 8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内容与标题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587493" name="Shape 43"/>
          <p:cNvSpPr txBox="1"/>
          <p:nvPr>
            <p:ph type="title"/>
          </p:nvPr>
        </p:nvSpPr>
        <p:spPr bwMode="auto"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9695080" name="Shape 44"/>
          <p:cNvSpPr txBox="1"/>
          <p:nvPr>
            <p:ph type="body" idx="1"/>
          </p:nvPr>
        </p:nvSpPr>
        <p:spPr bwMode="auto"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>
              <a:defRPr/>
            </a:pPr>
            <a:endParaRPr/>
          </a:p>
        </p:txBody>
      </p:sp>
      <p:sp>
        <p:nvSpPr>
          <p:cNvPr id="1011448125" name="Shape 45"/>
          <p:cNvSpPr txBox="1"/>
          <p:nvPr>
            <p:ph type="body" idx="2"/>
          </p:nvPr>
        </p:nvSpPr>
        <p:spPr bwMode="auto"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707515480" name="Shape 46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3234820" name="Shape 47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025888" name="Shape 48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图片与标题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779042" name="Shape 24"/>
          <p:cNvSpPr txBox="1"/>
          <p:nvPr>
            <p:ph type="title"/>
          </p:nvPr>
        </p:nvSpPr>
        <p:spPr bwMode="auto"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7168431" name="Shape 25"/>
          <p:cNvSpPr/>
          <p:nvPr>
            <p:ph type="pic" idx="2"/>
          </p:nvPr>
        </p:nvSpPr>
        <p:spPr bwMode="auto"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87024500" name="Shape 26"/>
          <p:cNvSpPr txBox="1"/>
          <p:nvPr>
            <p:ph type="body" idx="1"/>
          </p:nvPr>
        </p:nvSpPr>
        <p:spPr bwMode="auto"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905496249" name="Shape 27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189307" name="Shape 28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1945259" name="Shape 29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标题和竖排文字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055350" name="Shape 49"/>
          <p:cNvSpPr txBox="1"/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9751130" name="Shape 50"/>
          <p:cNvSpPr txBox="1"/>
          <p:nvPr>
            <p:ph type="body" idx="1"/>
          </p:nvPr>
        </p:nvSpPr>
        <p:spPr bwMode="auto"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829388" name="Shape 51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6043686" name="Shape 52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3201052" name="Shape 53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竖排标题与文本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538170" name="Shape 15"/>
          <p:cNvSpPr txBox="1"/>
          <p:nvPr>
            <p:ph type="title"/>
          </p:nvPr>
        </p:nvSpPr>
        <p:spPr bwMode="auto"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3550489" name="Shape 16"/>
          <p:cNvSpPr txBox="1"/>
          <p:nvPr>
            <p:ph type="body" idx="1"/>
          </p:nvPr>
        </p:nvSpPr>
        <p:spPr bwMode="auto"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3957752" name="Shape 17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6959607" name="Shape 18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2502948" name="Shape 19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367226" name="Shape 1"/>
          <p:cNvSpPr txBox="1"/>
          <p:nvPr>
            <p:ph type="title"/>
          </p:nvPr>
        </p:nvSpPr>
        <p:spPr bwMode="auto"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538849681" name="Shape 2"/>
          <p:cNvSpPr txBox="1"/>
          <p:nvPr>
            <p:ph type="body" idx="1"/>
          </p:nvPr>
        </p:nvSpPr>
        <p:spPr bwMode="auto"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68309484" name="Shape 3"/>
          <p:cNvSpPr txBox="1"/>
          <p:nvPr>
            <p:ph type="dt" idx="10"/>
          </p:nvPr>
        </p:nvSpPr>
        <p:spPr bwMode="auto"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45243890" name="Shape 4"/>
          <p:cNvSpPr txBox="1"/>
          <p:nvPr>
            <p:ph type="ftr" idx="11"/>
          </p:nvPr>
        </p:nvSpPr>
        <p:spPr bwMode="auto"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1224689" name="Shape 5"/>
          <p:cNvSpPr txBox="1"/>
          <p:nvPr>
            <p:ph type="sldNum" idx="12"/>
          </p:nvPr>
        </p:nvSpPr>
        <p:spPr bwMode="auto"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默认主题">
    <p:bg>
      <p:bgPr shadeToTitle="0"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media2.svg"/><Relationship Id="rId5" Type="http://schemas.openxmlformats.org/officeDocument/2006/relationships/image" Target="../media/image3.png"/><Relationship Id="rId6" Type="http://schemas.openxmlformats.org/officeDocument/2006/relationships/image" Target="../media/media3.svg"/><Relationship Id="rId7" Type="http://schemas.openxmlformats.org/officeDocument/2006/relationships/image" Target="../media/image4.png"/><Relationship Id="rId8" Type="http://schemas.openxmlformats.org/officeDocument/2006/relationships/image" Target="../media/media4.svg"/><Relationship Id="rId9" Type="http://schemas.openxmlformats.org/officeDocument/2006/relationships/image" Target="../media/image5.png"/><Relationship Id="rId10" Type="http://schemas.openxmlformats.org/officeDocument/2006/relationships/image" Target="../media/media5.svg"/><Relationship Id="rId11" Type="http://schemas.openxmlformats.org/officeDocument/2006/relationships/image" Target="../media/image6.png"/><Relationship Id="rId12" Type="http://schemas.openxmlformats.org/officeDocument/2006/relationships/image" Target="../media/media6.svg"/><Relationship Id="rId13" Type="http://schemas.openxmlformats.org/officeDocument/2006/relationships/image" Target="../media/image7.png"/><Relationship Id="rId14" Type="http://schemas.openxmlformats.org/officeDocument/2006/relationships/image" Target="../media/media7.svg"/><Relationship Id="rId15" Type="http://schemas.openxmlformats.org/officeDocument/2006/relationships/image" Target="../media/image8.png"/><Relationship Id="rId16" Type="http://schemas.openxmlformats.org/officeDocument/2006/relationships/image" Target="../media/media8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media9.svg"/><Relationship Id="rId5" Type="http://schemas.openxmlformats.org/officeDocument/2006/relationships/image" Target="../media/image10.png"/><Relationship Id="rId6" Type="http://schemas.openxmlformats.org/officeDocument/2006/relationships/image" Target="../media/media10.svg"/><Relationship Id="rId7" Type="http://schemas.openxmlformats.org/officeDocument/2006/relationships/image" Target="../media/image11.png"/><Relationship Id="rId8" Type="http://schemas.openxmlformats.org/officeDocument/2006/relationships/image" Target="../media/media11.svg"/><Relationship Id="rId9" Type="http://schemas.openxmlformats.org/officeDocument/2006/relationships/image" Target="../media/image12.png"/><Relationship Id="rId10" Type="http://schemas.openxmlformats.org/officeDocument/2006/relationships/image" Target="../media/media12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media13.svg"/><Relationship Id="rId6" Type="http://schemas.openxmlformats.org/officeDocument/2006/relationships/image" Target="../media/image15.png"/><Relationship Id="rId7" Type="http://schemas.openxmlformats.org/officeDocument/2006/relationships/image" Target="../media/media14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media15.svg"/><Relationship Id="rId5" Type="http://schemas.openxmlformats.org/officeDocument/2006/relationships/image" Target="../media/image17.png"/><Relationship Id="rId6" Type="http://schemas.openxmlformats.org/officeDocument/2006/relationships/image" Target="../media/media16.svg"/><Relationship Id="rId7" Type="http://schemas.openxmlformats.org/officeDocument/2006/relationships/image" Target="../media/image18.png"/><Relationship Id="rId8" Type="http://schemas.openxmlformats.org/officeDocument/2006/relationships/image" Target="../media/media17.svg"/><Relationship Id="rId9" Type="http://schemas.openxmlformats.org/officeDocument/2006/relationships/image" Target="../media/image19.png"/><Relationship Id="rId10" Type="http://schemas.openxmlformats.org/officeDocument/2006/relationships/image" Target="../media/media18.svg"/><Relationship Id="rId11" Type="http://schemas.openxmlformats.org/officeDocument/2006/relationships/image" Target="../media/image20.png"/><Relationship Id="rId12" Type="http://schemas.openxmlformats.org/officeDocument/2006/relationships/image" Target="../media/media19.svg"/><Relationship Id="rId13" Type="http://schemas.openxmlformats.org/officeDocument/2006/relationships/image" Target="../media/image21.png"/><Relationship Id="rId14" Type="http://schemas.openxmlformats.org/officeDocument/2006/relationships/image" Target="../media/media20.svg"/><Relationship Id="rId15" Type="http://schemas.openxmlformats.org/officeDocument/2006/relationships/image" Target="../media/image22.png"/><Relationship Id="rId16" Type="http://schemas.openxmlformats.org/officeDocument/2006/relationships/image" Target="../media/media21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media22.svg"/><Relationship Id="rId5" Type="http://schemas.openxmlformats.org/officeDocument/2006/relationships/image" Target="../media/image24.png"/><Relationship Id="rId6" Type="http://schemas.openxmlformats.org/officeDocument/2006/relationships/image" Target="../media/media23.svg"/><Relationship Id="rId7" Type="http://schemas.openxmlformats.org/officeDocument/2006/relationships/image" Target="../media/image25.png"/><Relationship Id="rId8" Type="http://schemas.openxmlformats.org/officeDocument/2006/relationships/image" Target="../media/media24.svg"/><Relationship Id="rId9" Type="http://schemas.openxmlformats.org/officeDocument/2006/relationships/image" Target="../media/image26.png"/><Relationship Id="rId10" Type="http://schemas.openxmlformats.org/officeDocument/2006/relationships/image" Target="../media/media25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media26.svg"/><Relationship Id="rId5" Type="http://schemas.openxmlformats.org/officeDocument/2006/relationships/image" Target="../media/image28.png"/><Relationship Id="rId6" Type="http://schemas.openxmlformats.org/officeDocument/2006/relationships/image" Target="../media/media27.svg"/><Relationship Id="rId7" Type="http://schemas.openxmlformats.org/officeDocument/2006/relationships/image" Target="../media/image2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media28.svg"/><Relationship Id="rId5" Type="http://schemas.openxmlformats.org/officeDocument/2006/relationships/image" Target="../media/image31.png"/><Relationship Id="rId6" Type="http://schemas.openxmlformats.org/officeDocument/2006/relationships/image" Target="../media/media29.sv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media30.svg"/><Relationship Id="rId10" Type="http://schemas.openxmlformats.org/officeDocument/2006/relationships/image" Target="../media/image34.png"/><Relationship Id="rId11" Type="http://schemas.openxmlformats.org/officeDocument/2006/relationships/image" Target="../media/media31.sv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media32.svg"/><Relationship Id="rId5" Type="http://schemas.openxmlformats.org/officeDocument/2006/relationships/image" Target="../media/image36.png"/><Relationship Id="rId6" Type="http://schemas.openxmlformats.org/officeDocument/2006/relationships/image" Target="../media/media33.svg"/><Relationship Id="rId7" Type="http://schemas.openxmlformats.org/officeDocument/2006/relationships/image" Target="../media/image37.png"/><Relationship Id="rId8" Type="http://schemas.openxmlformats.org/officeDocument/2006/relationships/image" Target="../media/media34.sv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media35.svg"/><Relationship Id="rId5" Type="http://schemas.openxmlformats.org/officeDocument/2006/relationships/image" Target="../media/image39.png"/><Relationship Id="rId6" Type="http://schemas.openxmlformats.org/officeDocument/2006/relationships/image" Target="../media/media36.svg"/><Relationship Id="rId7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B1C3D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71133" name="Picture 2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5791200" y="1524000"/>
            <a:ext cx="609600" cy="609600"/>
          </a:xfrm>
          <a:prstGeom prst="rect">
            <a:avLst/>
          </a:prstGeom>
        </p:spPr>
      </p:pic>
      <p:sp>
        <p:nvSpPr>
          <p:cNvPr id="1259696040" name="AutoShape 3"/>
          <p:cNvSpPr/>
          <p:nvPr/>
        </p:nvSpPr>
        <p:spPr bwMode="auto">
          <a:xfrm rot="0" flipH="0" flipV="0"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2026集团战略发展规划发展</a:t>
            </a:r>
            <a:endParaRPr lang="en-US" sz="1100"/>
          </a:p>
        </p:txBody>
      </p:sp>
      <p:sp>
        <p:nvSpPr>
          <p:cNvPr id="799014320" name="AutoShape 4"/>
          <p:cNvSpPr/>
          <p:nvPr/>
        </p:nvSpPr>
        <p:spPr bwMode="auto">
          <a:xfrm rot="0" flipH="0" flipV="0">
            <a:off x="5588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8205008" name="AutoShape 5"/>
          <p:cNvSpPr/>
          <p:nvPr/>
        </p:nvSpPr>
        <p:spPr bwMode="auto">
          <a:xfrm rot="0" flipH="0" flipV="0"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2026-2030年发展蓝图</a:t>
            </a:r>
            <a:endParaRPr lang="en-US" sz="1100"/>
          </a:p>
        </p:txBody>
      </p:sp>
      <p:sp>
        <p:nvSpPr>
          <p:cNvPr id="1215663248" name="AutoShape 6"/>
          <p:cNvSpPr/>
          <p:nvPr/>
        </p:nvSpPr>
        <p:spPr bwMode="auto">
          <a:xfrm rot="0" flipH="0" flipV="0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8209571" name="AutoShape 7"/>
          <p:cNvSpPr/>
          <p:nvPr/>
        </p:nvSpPr>
        <p:spPr bwMode="auto">
          <a:xfrm rot="0" flipH="0" flipV="0">
            <a:off x="1016000" y="6286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汇报单位：集团战略规划部 | 日期：2026年X月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105905" name="AutoShape 2"/>
          <p:cNvSpPr/>
          <p:nvPr/>
        </p:nvSpPr>
        <p:spPr bwMode="auto">
          <a:xfrm rot="0" flipH="0" flipV="0"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目 录</a:t>
            </a:r>
            <a:endParaRPr lang="en-US" sz="1100"/>
          </a:p>
        </p:txBody>
      </p:sp>
      <p:cxnSp>
        <p:nvCxnSpPr>
          <p:cNvPr id="231123910" name="Connector 3"/>
          <p:cNvCxnSpPr/>
          <p:nvPr/>
        </p:nvCxnSpPr>
        <p:spPr bwMode="auto">
          <a:xfrm rot="-57290" flipH="0" flipV="0">
            <a:off x="762053" y="14541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4AF3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114672289" name="AutoShape 4"/>
          <p:cNvSpPr/>
          <p:nvPr/>
        </p:nvSpPr>
        <p:spPr bwMode="auto">
          <a:xfrm rot="0" flipH="0" flipV="0">
            <a:off x="762000" y="1778000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1854570" name="Picture 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016000" y="2006600"/>
            <a:ext cx="558800" cy="558800"/>
          </a:xfrm>
          <a:prstGeom prst="rect">
            <a:avLst/>
          </a:prstGeom>
        </p:spPr>
      </p:pic>
      <p:sp>
        <p:nvSpPr>
          <p:cNvPr id="1061387951" name="AutoShape 6"/>
          <p:cNvSpPr/>
          <p:nvPr/>
        </p:nvSpPr>
        <p:spPr bwMode="auto">
          <a:xfrm rot="0" flipH="0" flipV="0">
            <a:off x="1701800" y="190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 战略背景与形势分析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宏观环境与行业趋势研判</a:t>
            </a:r>
            <a:endParaRPr/>
          </a:p>
        </p:txBody>
      </p:sp>
      <p:sp>
        <p:nvSpPr>
          <p:cNvPr id="12082436" name="AutoShape 7"/>
          <p:cNvSpPr/>
          <p:nvPr/>
        </p:nvSpPr>
        <p:spPr bwMode="auto">
          <a:xfrm rot="0" flipH="0" flipV="0">
            <a:off x="6223000" y="1778000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2489532" name="Picture 8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6477000" y="2006600"/>
            <a:ext cx="558800" cy="558800"/>
          </a:xfrm>
          <a:prstGeom prst="rect">
            <a:avLst/>
          </a:prstGeom>
        </p:spPr>
      </p:pic>
      <p:sp>
        <p:nvSpPr>
          <p:cNvPr id="1865727683" name="AutoShape 9"/>
          <p:cNvSpPr/>
          <p:nvPr/>
        </p:nvSpPr>
        <p:spPr bwMode="auto">
          <a:xfrm rot="0" flipH="0" flipV="0">
            <a:off x="7162800" y="190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 愿景、使命与核心价值观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企业精神与文化内核</a:t>
            </a:r>
            <a:endParaRPr/>
          </a:p>
        </p:txBody>
      </p:sp>
      <p:sp>
        <p:nvSpPr>
          <p:cNvPr id="1891657258" name="AutoShape 10"/>
          <p:cNvSpPr/>
          <p:nvPr/>
        </p:nvSpPr>
        <p:spPr bwMode="auto">
          <a:xfrm rot="0" flipH="0" flipV="0">
            <a:off x="762000" y="2984500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76681885" name="Picture 11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rot="0" flipH="0" flipV="0">
            <a:off x="1016000" y="3213100"/>
            <a:ext cx="558800" cy="558800"/>
          </a:xfrm>
          <a:prstGeom prst="rect">
            <a:avLst/>
          </a:prstGeom>
        </p:spPr>
      </p:pic>
      <p:sp>
        <p:nvSpPr>
          <p:cNvPr id="1149100093" name="AutoShape 12"/>
          <p:cNvSpPr/>
          <p:nvPr/>
        </p:nvSpPr>
        <p:spPr bwMode="auto">
          <a:xfrm rot="0" flipH="0" flipV="0">
            <a:off x="1701800" y="3111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 总体战略目标与核心战略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五年发展蓝图与战略主线</a:t>
            </a:r>
            <a:endParaRPr/>
          </a:p>
        </p:txBody>
      </p:sp>
      <p:sp>
        <p:nvSpPr>
          <p:cNvPr id="378757168" name="AutoShape 13"/>
          <p:cNvSpPr/>
          <p:nvPr/>
        </p:nvSpPr>
        <p:spPr bwMode="auto">
          <a:xfrm rot="0" flipH="0" flipV="0">
            <a:off x="6223000" y="2984500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86543168" name="Picture 14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0" flipH="0" flipV="0">
            <a:off x="6477000" y="3213100"/>
            <a:ext cx="558800" cy="558800"/>
          </a:xfrm>
          <a:prstGeom prst="rect">
            <a:avLst/>
          </a:prstGeom>
        </p:spPr>
      </p:pic>
      <p:sp>
        <p:nvSpPr>
          <p:cNvPr id="865535691" name="AutoShape 15"/>
          <p:cNvSpPr/>
          <p:nvPr/>
        </p:nvSpPr>
        <p:spPr bwMode="auto">
          <a:xfrm rot="0" flipH="0" flipV="0">
            <a:off x="7162800" y="3111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 业务板块战略规划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各业务单元的具体发展路径</a:t>
            </a:r>
            <a:endParaRPr/>
          </a:p>
        </p:txBody>
      </p:sp>
      <p:sp>
        <p:nvSpPr>
          <p:cNvPr id="245481751" name="AutoShape 16"/>
          <p:cNvSpPr/>
          <p:nvPr/>
        </p:nvSpPr>
        <p:spPr bwMode="auto">
          <a:xfrm rot="0" flipH="0" flipV="0">
            <a:off x="762000" y="4191000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1118999" name="Picture 17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 rot="0" flipH="0" flipV="0">
            <a:off x="1016000" y="4419600"/>
            <a:ext cx="558800" cy="558800"/>
          </a:xfrm>
          <a:prstGeom prst="rect">
            <a:avLst/>
          </a:prstGeom>
        </p:spPr>
      </p:pic>
      <p:sp>
        <p:nvSpPr>
          <p:cNvPr id="378804565" name="AutoShape 18"/>
          <p:cNvSpPr/>
          <p:nvPr/>
        </p:nvSpPr>
        <p:spPr bwMode="auto">
          <a:xfrm rot="0" flipH="0" flipV="0">
            <a:off x="1701800" y="431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 关键战略举措与实施路径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落地执行的关键动作与时间表</a:t>
            </a:r>
            <a:endParaRPr/>
          </a:p>
        </p:txBody>
      </p:sp>
      <p:sp>
        <p:nvSpPr>
          <p:cNvPr id="578143736" name="AutoShape 19"/>
          <p:cNvSpPr/>
          <p:nvPr/>
        </p:nvSpPr>
        <p:spPr bwMode="auto">
          <a:xfrm rot="0" flipH="0" flipV="0">
            <a:off x="6223000" y="4191000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5659088" name="Picture 20"/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 bwMode="auto">
          <a:xfrm rot="0" flipH="0" flipV="0">
            <a:off x="6477000" y="4419600"/>
            <a:ext cx="558800" cy="558800"/>
          </a:xfrm>
          <a:prstGeom prst="rect">
            <a:avLst/>
          </a:prstGeom>
        </p:spPr>
      </p:pic>
      <p:sp>
        <p:nvSpPr>
          <p:cNvPr id="686404168" name="AutoShape 21"/>
          <p:cNvSpPr/>
          <p:nvPr/>
        </p:nvSpPr>
        <p:spPr bwMode="auto">
          <a:xfrm rot="0" flipH="0" flipV="0">
            <a:off x="7162800" y="431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06 资源保障与风险管控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人力、财务支持与风险预案</a:t>
            </a:r>
            <a:endParaRPr/>
          </a:p>
        </p:txBody>
      </p:sp>
      <p:sp>
        <p:nvSpPr>
          <p:cNvPr id="899576237" name="AutoShape 22"/>
          <p:cNvSpPr/>
          <p:nvPr/>
        </p:nvSpPr>
        <p:spPr bwMode="auto">
          <a:xfrm rot="0" flipH="0" flipV="0">
            <a:off x="3492500" y="5397500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37719595" name="Picture 23"/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 bwMode="auto">
          <a:xfrm rot="0" flipH="0" flipV="0">
            <a:off x="3746500" y="5626100"/>
            <a:ext cx="558800" cy="558800"/>
          </a:xfrm>
          <a:prstGeom prst="rect">
            <a:avLst/>
          </a:prstGeom>
        </p:spPr>
      </p:pic>
      <p:sp>
        <p:nvSpPr>
          <p:cNvPr id="284577544" name="AutoShape 24"/>
          <p:cNvSpPr/>
          <p:nvPr/>
        </p:nvSpPr>
        <p:spPr bwMode="auto">
          <a:xfrm rot="0" flipH="0" flipV="0">
            <a:off x="4432300" y="5524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07 总结与展望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未来展望与下一步行动计划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25477" name="AutoShape 2"/>
          <p:cNvSpPr/>
          <p:nvPr/>
        </p:nvSpPr>
        <p:spPr bwMode="auto">
          <a:xfrm rot="0" flipH="0" flipV="0"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战略背景与形势分析</a:t>
            </a:r>
            <a:endParaRPr lang="en-US" sz="1100"/>
          </a:p>
        </p:txBody>
      </p:sp>
      <p:cxnSp>
        <p:nvCxnSpPr>
          <p:cNvPr id="2019246491" name="Connector 3"/>
          <p:cNvCxnSpPr/>
          <p:nvPr/>
        </p:nvCxnSpPr>
        <p:spPr bwMode="auto">
          <a:xfrm rot="-42966" flipH="0" flipV="0">
            <a:off x="762040" y="177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AB30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3031433" name="AutoShape 4"/>
          <p:cNvSpPr/>
          <p:nvPr/>
        </p:nvSpPr>
        <p:spPr bwMode="auto">
          <a:xfrm rot="0" flipH="0" flipV="0">
            <a:off x="762000" y="2159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13805777" name="Picture 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1109790306" name="AutoShape 6"/>
          <p:cNvSpPr/>
          <p:nvPr/>
        </p:nvSpPr>
        <p:spPr bwMode="auto">
          <a:xfrm rot="0" flipH="0" flipV="0">
            <a:off x="1587500" y="2311399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宏观环境分析 (PEST)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深入研判政治、经济、社会及技术环境变化，把握宏观政策导向与市场趋势。</a:t>
            </a:r>
            <a:endParaRPr/>
          </a:p>
        </p:txBody>
      </p:sp>
      <p:sp>
        <p:nvSpPr>
          <p:cNvPr id="1028045343" name="AutoShape 7"/>
          <p:cNvSpPr/>
          <p:nvPr/>
        </p:nvSpPr>
        <p:spPr bwMode="auto">
          <a:xfrm rot="0" flipH="0" flipV="0">
            <a:off x="762000" y="3365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67687600" name="Picture 8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1109727133" name="AutoShape 9"/>
          <p:cNvSpPr/>
          <p:nvPr/>
        </p:nvSpPr>
        <p:spPr bwMode="auto">
          <a:xfrm rot="0" flipH="0" flipV="0">
            <a:off x="1587500" y="35179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行业竞争格局分析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剖析行业发展趋势，对标主要竞争对手，挖掘潜在的市场机会与切入点。</a:t>
            </a:r>
            <a:endParaRPr/>
          </a:p>
        </p:txBody>
      </p:sp>
      <p:sp>
        <p:nvSpPr>
          <p:cNvPr id="1504109546" name="AutoShape 10"/>
          <p:cNvSpPr/>
          <p:nvPr/>
        </p:nvSpPr>
        <p:spPr bwMode="auto">
          <a:xfrm rot="0" flipH="0" flipV="0">
            <a:off x="762000" y="4572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52251494" name="Picture 11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rot="0" flipH="0" flipV="0"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1455530797" name="AutoShape 12"/>
          <p:cNvSpPr/>
          <p:nvPr/>
        </p:nvSpPr>
        <p:spPr bwMode="auto">
          <a:xfrm rot="0" flipH="0" flipV="0">
            <a:off x="1587500" y="4724399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内部能力评估 (SWOT)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全面盘点集团核心优势与劣势，识别内部资源与能力短板，明确改进方向。</a:t>
            </a:r>
            <a:endParaRPr/>
          </a:p>
        </p:txBody>
      </p:sp>
      <p:sp>
        <p:nvSpPr>
          <p:cNvPr id="759622587" name="AutoShape 13"/>
          <p:cNvSpPr/>
          <p:nvPr/>
        </p:nvSpPr>
        <p:spPr bwMode="auto">
          <a:xfrm rot="0" flipH="0" flipV="0">
            <a:off x="6350000" y="2159000"/>
            <a:ext cx="5080000" cy="3492500"/>
          </a:xfrm>
          <a:prstGeom prst="roundRect">
            <a:avLst>
              <a:gd name="adj" fmla="val 363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39553364" name="Picture 14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0" flipH="0" flipV="0">
            <a:off x="8432800" y="2413000"/>
            <a:ext cx="914400" cy="914400"/>
          </a:xfrm>
          <a:prstGeom prst="rect">
            <a:avLst/>
          </a:prstGeom>
        </p:spPr>
      </p:pic>
      <p:sp>
        <p:nvSpPr>
          <p:cNvPr id="1554920336" name="AutoShape 15"/>
          <p:cNvSpPr/>
          <p:nvPr/>
        </p:nvSpPr>
        <p:spPr bwMode="auto">
          <a:xfrm rot="0" flipH="0" flipV="0">
            <a:off x="6604000" y="3429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战略态势雷达图</a:t>
            </a:r>
            <a:endParaRPr lang="en-US" sz="1100"/>
          </a:p>
        </p:txBody>
      </p:sp>
      <p:cxnSp>
        <p:nvCxnSpPr>
          <p:cNvPr id="1527746606" name="Connector 16"/>
          <p:cNvCxnSpPr/>
          <p:nvPr/>
        </p:nvCxnSpPr>
        <p:spPr bwMode="auto">
          <a:xfrm rot="-10740" flipH="0" flipV="0">
            <a:off x="6858010" y="3930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7823077" name="Connector 17"/>
          <p:cNvCxnSpPr/>
          <p:nvPr/>
        </p:nvCxnSpPr>
        <p:spPr bwMode="auto">
          <a:xfrm rot="-10740" flipH="0" flipV="0">
            <a:off x="6858010" y="4311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2455211" name="Connector 18"/>
          <p:cNvCxnSpPr/>
          <p:nvPr/>
        </p:nvCxnSpPr>
        <p:spPr bwMode="auto">
          <a:xfrm rot="-10740" flipH="0" flipV="0">
            <a:off x="6858010" y="4692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2882613" name="AutoShape 19"/>
          <p:cNvSpPr/>
          <p:nvPr/>
        </p:nvSpPr>
        <p:spPr bwMode="auto">
          <a:xfrm rot="0" flipH="0" flipV="0">
            <a:off x="7112000" y="3886200"/>
            <a:ext cx="101600" cy="1016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0518756" name="AutoShape 20"/>
          <p:cNvSpPr/>
          <p:nvPr/>
        </p:nvSpPr>
        <p:spPr bwMode="auto">
          <a:xfrm rot="0" flipH="0" flipV="0">
            <a:off x="8636000" y="4267200"/>
            <a:ext cx="101600" cy="1016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9663476" name="AutoShape 21"/>
          <p:cNvSpPr/>
          <p:nvPr/>
        </p:nvSpPr>
        <p:spPr bwMode="auto">
          <a:xfrm rot="0" flipH="0" flipV="0">
            <a:off x="10160000" y="4648200"/>
            <a:ext cx="101600" cy="1016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227612" name="AutoShape 22"/>
          <p:cNvSpPr/>
          <p:nvPr/>
        </p:nvSpPr>
        <p:spPr bwMode="auto">
          <a:xfrm rot="0" flipH="0" flipV="0">
            <a:off x="6604000" y="4953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60000"/>
                  </a:srgbClr>
                </a:solidFill>
                <a:latin typeface="Noto Sans SC"/>
                <a:ea typeface="Noto Sans SC"/>
                <a:cs typeface="Noto Sans SC"/>
              </a:rPr>
              <a:t>综合分析显示：机遇与挑战并存，需重点突破核心业务壁垒。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329684" name="AutoShape 2"/>
          <p:cNvSpPr/>
          <p:nvPr/>
        </p:nvSpPr>
        <p:spPr bwMode="auto">
          <a:xfrm rot="0" flipH="0" flipV="0"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集团愿景、使命与核心价值观</a:t>
            </a:r>
            <a:endParaRPr lang="en-US" sz="1100"/>
          </a:p>
        </p:txBody>
      </p:sp>
      <p:sp>
        <p:nvSpPr>
          <p:cNvPr id="2111479995" name="AutoShape 3"/>
          <p:cNvSpPr/>
          <p:nvPr/>
        </p:nvSpPr>
        <p:spPr bwMode="auto">
          <a:xfrm rot="0" flipH="0" flipV="0">
            <a:off x="762000" y="177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4545418" name="AutoShape 4"/>
          <p:cNvSpPr/>
          <p:nvPr/>
        </p:nvSpPr>
        <p:spPr bwMode="auto">
          <a:xfrm rot="0" flipH="0" flipV="0">
            <a:off x="762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61267046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095500" y="2667000"/>
            <a:ext cx="635000" cy="635000"/>
          </a:xfrm>
          <a:prstGeom prst="rect">
            <a:avLst/>
          </a:prstGeom>
        </p:spPr>
      </p:pic>
      <p:sp>
        <p:nvSpPr>
          <p:cNvPr id="880586628" name="AutoShape 6"/>
          <p:cNvSpPr/>
          <p:nvPr/>
        </p:nvSpPr>
        <p:spPr bwMode="auto">
          <a:xfrm rot="0" flipH="0" flipV="0">
            <a:off x="1016000" y="342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愿景 (Vision)</a:t>
            </a:r>
            <a:endParaRPr lang="en-US" sz="1100"/>
          </a:p>
        </p:txBody>
      </p:sp>
      <p:cxnSp>
        <p:nvCxnSpPr>
          <p:cNvPr id="1743273504" name="Connector 7"/>
          <p:cNvCxnSpPr/>
          <p:nvPr/>
        </p:nvCxnSpPr>
        <p:spPr bwMode="auto">
          <a:xfrm rot="-21485" flipH="0" flipV="0">
            <a:off x="1397020" y="3867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1339586" name="AutoShape 8"/>
          <p:cNvSpPr/>
          <p:nvPr/>
        </p:nvSpPr>
        <p:spPr bwMode="auto">
          <a:xfrm rot="0" flipH="0" flipV="0">
            <a:off x="1016000" y="406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成为全球领先的XX行业解决方案提供商，引领行业发展方向。</a:t>
            </a:r>
            <a:endParaRPr lang="en-US" sz="1100"/>
          </a:p>
        </p:txBody>
      </p:sp>
      <p:sp>
        <p:nvSpPr>
          <p:cNvPr id="464703986" name="AutoShape 9"/>
          <p:cNvSpPr/>
          <p:nvPr/>
        </p:nvSpPr>
        <p:spPr bwMode="auto">
          <a:xfrm rot="0" flipH="0" flipV="0">
            <a:off x="4445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76029106" name="Picture 10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rot="0" flipH="0" flipV="0">
            <a:off x="5778500" y="2667000"/>
            <a:ext cx="635000" cy="635000"/>
          </a:xfrm>
          <a:prstGeom prst="rect">
            <a:avLst/>
          </a:prstGeom>
        </p:spPr>
      </p:pic>
      <p:sp>
        <p:nvSpPr>
          <p:cNvPr id="1871427145" name="AutoShape 11"/>
          <p:cNvSpPr/>
          <p:nvPr/>
        </p:nvSpPr>
        <p:spPr bwMode="auto">
          <a:xfrm rot="0" flipH="0" flipV="0">
            <a:off x="4699000" y="342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使命 (Mission)</a:t>
            </a:r>
            <a:endParaRPr lang="en-US" sz="1100"/>
          </a:p>
        </p:txBody>
      </p:sp>
      <p:cxnSp>
        <p:nvCxnSpPr>
          <p:cNvPr id="2094127720" name="Connector 12"/>
          <p:cNvCxnSpPr/>
          <p:nvPr/>
        </p:nvCxnSpPr>
        <p:spPr bwMode="auto">
          <a:xfrm rot="-21485" flipH="0" flipV="0">
            <a:off x="5080020" y="3867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2091766" name="AutoShape 13"/>
          <p:cNvSpPr/>
          <p:nvPr/>
        </p:nvSpPr>
        <p:spPr bwMode="auto">
          <a:xfrm rot="0" flipH="0" flipV="0">
            <a:off x="4699000" y="406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通过创新科技与卓越服务，为客户创造价值，推动行业进步与社会发展。</a:t>
            </a:r>
            <a:endParaRPr lang="en-US" sz="1100"/>
          </a:p>
        </p:txBody>
      </p:sp>
      <p:sp>
        <p:nvSpPr>
          <p:cNvPr id="1643790445" name="AutoShape 14"/>
          <p:cNvSpPr/>
          <p:nvPr/>
        </p:nvSpPr>
        <p:spPr bwMode="auto">
          <a:xfrm rot="0" flipH="0" flipV="0">
            <a:off x="8128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7751116" name="Picture 15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 rot="0" flipH="0" flipV="0">
            <a:off x="9461500" y="2667000"/>
            <a:ext cx="635000" cy="635000"/>
          </a:xfrm>
          <a:prstGeom prst="rect">
            <a:avLst/>
          </a:prstGeom>
        </p:spPr>
      </p:pic>
      <p:sp>
        <p:nvSpPr>
          <p:cNvPr id="1362530880" name="AutoShape 16"/>
          <p:cNvSpPr/>
          <p:nvPr/>
        </p:nvSpPr>
        <p:spPr bwMode="auto">
          <a:xfrm rot="0" flipH="0" flipV="0">
            <a:off x="8382000" y="342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核心价值观 (Core Values)</a:t>
            </a:r>
            <a:endParaRPr lang="en-US" sz="1100"/>
          </a:p>
        </p:txBody>
      </p:sp>
      <p:cxnSp>
        <p:nvCxnSpPr>
          <p:cNvPr id="1593256202" name="Connector 17"/>
          <p:cNvCxnSpPr/>
          <p:nvPr/>
        </p:nvCxnSpPr>
        <p:spPr bwMode="auto">
          <a:xfrm rot="-21485" flipH="0" flipV="0">
            <a:off x="8763020" y="38671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8700872" name="AutoShape 18"/>
          <p:cNvSpPr/>
          <p:nvPr/>
        </p:nvSpPr>
        <p:spPr bwMode="auto">
          <a:xfrm rot="0" flipH="0" flipV="0">
            <a:off x="8382000" y="406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客户至上 · 创新驱动</a:t>
            </a:r>
            <a:endParaRPr lang="en-US" sz="1100"/>
          </a:p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诚信正直 · 合作共赢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04423" name="AutoShape 2"/>
          <p:cNvSpPr/>
          <p:nvPr/>
        </p:nvSpPr>
        <p:spPr bwMode="auto">
          <a:xfrm rot="0" flipH="0" flipV="0"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总体战略目标与核心战略</a:t>
            </a:r>
            <a:endParaRPr lang="en-US" sz="1100"/>
          </a:p>
        </p:txBody>
      </p:sp>
      <p:sp>
        <p:nvSpPr>
          <p:cNvPr id="163774600" name="AutoShape 3"/>
          <p:cNvSpPr/>
          <p:nvPr/>
        </p:nvSpPr>
        <p:spPr bwMode="auto">
          <a:xfrm rot="0" flipH="0" flipV="0">
            <a:off x="762000" y="1651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0416192" name="AutoShape 4"/>
          <p:cNvSpPr/>
          <p:nvPr/>
        </p:nvSpPr>
        <p:spPr bwMode="auto">
          <a:xfrm rot="0" flipH="0" flipV="0"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</a:rPr>
              <a:t>总体战略目标 (2026-2030)</a:t>
            </a:r>
            <a:endParaRPr lang="en-US" sz="1100"/>
          </a:p>
        </p:txBody>
      </p:sp>
      <p:cxnSp>
        <p:nvCxnSpPr>
          <p:cNvPr id="1726844887" name="Connector 5"/>
          <p:cNvCxnSpPr/>
          <p:nvPr/>
        </p:nvCxnSpPr>
        <p:spPr bwMode="auto">
          <a:xfrm rot="-9291" flipH="0" flipV="0">
            <a:off x="1016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BBF2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9392380" name="Picture 6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841273956" name="AutoShape 7"/>
          <p:cNvSpPr/>
          <p:nvPr/>
        </p:nvSpPr>
        <p:spPr bwMode="auto">
          <a:xfrm rot="0" flipH="0" flipV="0">
            <a:off x="1524000" y="2603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营收增长目标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实现年复合增长率XX%，五年内达到XX亿元营收规模。</a:t>
            </a:r>
            <a:endParaRPr/>
          </a:p>
        </p:txBody>
      </p:sp>
      <p:pic>
        <p:nvPicPr>
          <p:cNvPr id="1862353807" name="Picture 8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615485544" name="AutoShape 9"/>
          <p:cNvSpPr/>
          <p:nvPr/>
        </p:nvSpPr>
        <p:spPr bwMode="auto">
          <a:xfrm rot="0" flipH="0" flipV="0">
            <a:off x="1524000" y="3492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市场地位跃升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成为国内XX领域的领导者，跻身全球前X强企业行列。</a:t>
            </a:r>
            <a:endParaRPr/>
          </a:p>
        </p:txBody>
      </p:sp>
      <p:pic>
        <p:nvPicPr>
          <p:cNvPr id="1071803176" name="Picture 10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rot="0" flipH="0" flipV="0"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041877344" name="AutoShape 11"/>
          <p:cNvSpPr/>
          <p:nvPr/>
        </p:nvSpPr>
        <p:spPr bwMode="auto">
          <a:xfrm rot="0" flipH="0" flipV="0">
            <a:off x="1524000" y="4381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技术创新驱动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研发投入占比达到XX%，每年推出X款以上核心创新产品。</a:t>
            </a:r>
            <a:endParaRPr/>
          </a:p>
        </p:txBody>
      </p:sp>
      <p:sp>
        <p:nvSpPr>
          <p:cNvPr id="1069614164" name="AutoShape 12"/>
          <p:cNvSpPr/>
          <p:nvPr/>
        </p:nvSpPr>
        <p:spPr bwMode="auto">
          <a:xfrm rot="0" flipH="0" flipV="0">
            <a:off x="6223000" y="1651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7165237" name="AutoShape 13"/>
          <p:cNvSpPr/>
          <p:nvPr/>
        </p:nvSpPr>
        <p:spPr bwMode="auto">
          <a:xfrm rot="0" flipH="0" flipV="0">
            <a:off x="6477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</a:rPr>
              <a:t>四大核心战略举措</a:t>
            </a:r>
            <a:endParaRPr lang="en-US" sz="1100"/>
          </a:p>
        </p:txBody>
      </p:sp>
      <p:cxnSp>
        <p:nvCxnSpPr>
          <p:cNvPr id="1475626578" name="Connector 14"/>
          <p:cNvCxnSpPr/>
          <p:nvPr/>
        </p:nvCxnSpPr>
        <p:spPr bwMode="auto">
          <a:xfrm rot="-9291" flipH="0" flipV="0">
            <a:off x="6477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BBF2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2772203" name="AutoShape 15"/>
          <p:cNvSpPr/>
          <p:nvPr/>
        </p:nvSpPr>
        <p:spPr bwMode="auto">
          <a:xfrm rot="0" flipH="0" flipV="0">
            <a:off x="6477000" y="2603500"/>
            <a:ext cx="4699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16096206" name="Picture 16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0" flipH="0" flipV="0">
            <a:off x="6667500" y="2832100"/>
            <a:ext cx="304800" cy="304800"/>
          </a:xfrm>
          <a:prstGeom prst="rect">
            <a:avLst/>
          </a:prstGeom>
        </p:spPr>
      </p:pic>
      <p:sp>
        <p:nvSpPr>
          <p:cNvPr id="2130078291" name="AutoShape 17"/>
          <p:cNvSpPr/>
          <p:nvPr/>
        </p:nvSpPr>
        <p:spPr bwMode="auto">
          <a:xfrm rot="0" flipH="0" flipV="0">
            <a:off x="7048500" y="2730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创新驱动战略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构建开放创新生态，持续突破关键核心技术。</a:t>
            </a:r>
            <a:endParaRPr/>
          </a:p>
        </p:txBody>
      </p:sp>
      <p:sp>
        <p:nvSpPr>
          <p:cNvPr id="1205038093" name="AutoShape 18"/>
          <p:cNvSpPr/>
          <p:nvPr/>
        </p:nvSpPr>
        <p:spPr bwMode="auto">
          <a:xfrm rot="0" flipH="0" flipV="0">
            <a:off x="6477000" y="3429000"/>
            <a:ext cx="4699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8551346" name="Picture 19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 rot="0" flipH="0" flipV="0">
            <a:off x="6667500" y="3657600"/>
            <a:ext cx="304800" cy="304800"/>
          </a:xfrm>
          <a:prstGeom prst="rect">
            <a:avLst/>
          </a:prstGeom>
        </p:spPr>
      </p:pic>
      <p:sp>
        <p:nvSpPr>
          <p:cNvPr id="587644401" name="AutoShape 20"/>
          <p:cNvSpPr/>
          <p:nvPr/>
        </p:nvSpPr>
        <p:spPr bwMode="auto">
          <a:xfrm rot="0" flipH="0" flipV="0">
            <a:off x="7048500" y="3556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市场扩张战略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深耕国内市场，加速国际化布局，拓展新兴业务。</a:t>
            </a:r>
            <a:endParaRPr/>
          </a:p>
        </p:txBody>
      </p:sp>
      <p:sp>
        <p:nvSpPr>
          <p:cNvPr id="934163451" name="AutoShape 21"/>
          <p:cNvSpPr/>
          <p:nvPr/>
        </p:nvSpPr>
        <p:spPr bwMode="auto">
          <a:xfrm rot="0" flipH="0" flipV="0">
            <a:off x="6477000" y="4254500"/>
            <a:ext cx="4699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75379085" name="Picture 22"/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 bwMode="auto">
          <a:xfrm rot="0" flipH="0" flipV="0">
            <a:off x="6667500" y="4483100"/>
            <a:ext cx="304800" cy="304800"/>
          </a:xfrm>
          <a:prstGeom prst="rect">
            <a:avLst/>
          </a:prstGeom>
        </p:spPr>
      </p:pic>
      <p:sp>
        <p:nvSpPr>
          <p:cNvPr id="458884071" name="AutoShape 23"/>
          <p:cNvSpPr/>
          <p:nvPr/>
        </p:nvSpPr>
        <p:spPr bwMode="auto">
          <a:xfrm rot="0" flipH="0" flipV="0">
            <a:off x="7048500" y="4381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数字化转型战略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打造智慧企业，实现业务流程与管理的全面数字化。</a:t>
            </a:r>
            <a:endParaRPr/>
          </a:p>
        </p:txBody>
      </p:sp>
      <p:sp>
        <p:nvSpPr>
          <p:cNvPr id="265849449" name="AutoShape 24"/>
          <p:cNvSpPr/>
          <p:nvPr/>
        </p:nvSpPr>
        <p:spPr bwMode="auto">
          <a:xfrm rot="0" flipH="0" flipV="0">
            <a:off x="6477000" y="5080000"/>
            <a:ext cx="4699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00519340" name="Picture 25"/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 bwMode="auto">
          <a:xfrm rot="0" flipH="0" flipV="0">
            <a:off x="6667500" y="5308600"/>
            <a:ext cx="304800" cy="304800"/>
          </a:xfrm>
          <a:prstGeom prst="rect">
            <a:avLst/>
          </a:prstGeom>
        </p:spPr>
      </p:pic>
      <p:sp>
        <p:nvSpPr>
          <p:cNvPr id="1577223274" name="AutoShape 26"/>
          <p:cNvSpPr/>
          <p:nvPr/>
        </p:nvSpPr>
        <p:spPr bwMode="auto">
          <a:xfrm rot="0" flipH="0" flipV="0">
            <a:off x="7048500" y="5207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人才发展战略</a:t>
            </a:r>
            <a:endParaRPr lang="en-US" sz="1100"/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建立人才梯队，完善激励机制，打造高绩效团队。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900574" name="AutoShape 2"/>
          <p:cNvSpPr/>
          <p:nvPr/>
        </p:nvSpPr>
        <p:spPr bwMode="auto">
          <a:xfrm rot="0" flipH="0" flipV="0"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业务板块战略规划</a:t>
            </a:r>
            <a:endParaRPr lang="en-US" sz="1100"/>
          </a:p>
        </p:txBody>
      </p:sp>
      <p:cxnSp>
        <p:nvCxnSpPr>
          <p:cNvPr id="264556660" name="Connector 3"/>
          <p:cNvCxnSpPr/>
          <p:nvPr/>
        </p:nvCxnSpPr>
        <p:spPr bwMode="auto">
          <a:xfrm rot="-42966" flipH="0" flipV="0">
            <a:off x="762040" y="17716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59E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70586784" name="AutoShape 4"/>
          <p:cNvSpPr/>
          <p:nvPr/>
        </p:nvSpPr>
        <p:spPr bwMode="auto">
          <a:xfrm rot="0" flipH="0" flipV="0">
            <a:off x="762000" y="2159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37048851" name="Picture 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1800648034" name="AutoShape 6"/>
          <p:cNvSpPr/>
          <p:nvPr/>
        </p:nvSpPr>
        <p:spPr bwMode="auto">
          <a:xfrm rot="0" flipH="0" flipV="0">
            <a:off x="1524000" y="238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业务板块 A：核心市场深耕</a:t>
            </a:r>
            <a:endParaRPr lang="en-US" sz="1100"/>
          </a:p>
        </p:txBody>
      </p:sp>
      <p:sp>
        <p:nvSpPr>
          <p:cNvPr id="1446963429" name="AutoShape 7"/>
          <p:cNvSpPr/>
          <p:nvPr/>
        </p:nvSpPr>
        <p:spPr bwMode="auto">
          <a:xfrm rot="0" flipH="0" flipV="0">
            <a:off x="1016000" y="2857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定位：稳固核心市场份额，提升品牌溢价能力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目标：年度营收增长 15%，客户满意度达 95%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策略：优化供应链效率，推出高端定制化服务</a:t>
            </a:r>
            <a:endParaRPr/>
          </a:p>
        </p:txBody>
      </p:sp>
      <p:sp>
        <p:nvSpPr>
          <p:cNvPr id="1392826490" name="AutoShape 8"/>
          <p:cNvSpPr/>
          <p:nvPr/>
        </p:nvSpPr>
        <p:spPr bwMode="auto">
          <a:xfrm rot="0" flipH="0" flipV="0">
            <a:off x="6223000" y="2159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61112021" name="Picture 9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6477000" y="2413000"/>
            <a:ext cx="406400" cy="406400"/>
          </a:xfrm>
          <a:prstGeom prst="rect">
            <a:avLst/>
          </a:prstGeom>
        </p:spPr>
      </p:pic>
      <p:sp>
        <p:nvSpPr>
          <p:cNvPr id="2059755598" name="AutoShape 10"/>
          <p:cNvSpPr/>
          <p:nvPr/>
        </p:nvSpPr>
        <p:spPr bwMode="auto">
          <a:xfrm rot="0" flipH="0" flipV="0">
            <a:off x="6985000" y="2387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业务板块 B：全球化扩张</a:t>
            </a:r>
            <a:endParaRPr lang="en-US" sz="1100"/>
          </a:p>
        </p:txBody>
      </p:sp>
      <p:sp>
        <p:nvSpPr>
          <p:cNvPr id="1093908337" name="AutoShape 11"/>
          <p:cNvSpPr/>
          <p:nvPr/>
        </p:nvSpPr>
        <p:spPr bwMode="auto">
          <a:xfrm rot="0" flipH="0" flipV="0">
            <a:off x="6477000" y="2857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定位：拓展东南亚及欧洲新兴市场，建立海外据点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目标：海外营收占比提升至 30%，建立 2 个区域中心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策略：本地化运营团队组建，跨境电商渠道铺设</a:t>
            </a:r>
            <a:endParaRPr/>
          </a:p>
        </p:txBody>
      </p:sp>
      <p:sp>
        <p:nvSpPr>
          <p:cNvPr id="1756853195" name="AutoShape 12"/>
          <p:cNvSpPr/>
          <p:nvPr/>
        </p:nvSpPr>
        <p:spPr bwMode="auto">
          <a:xfrm rot="0" flipH="0" flipV="0">
            <a:off x="762000" y="4318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06786679" name="Picture 13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rot="0" flipH="0" flipV="0">
            <a:off x="1016000" y="4572000"/>
            <a:ext cx="406400" cy="406400"/>
          </a:xfrm>
          <a:prstGeom prst="rect">
            <a:avLst/>
          </a:prstGeom>
        </p:spPr>
      </p:pic>
      <p:sp>
        <p:nvSpPr>
          <p:cNvPr id="188897271" name="AutoShape 14"/>
          <p:cNvSpPr/>
          <p:nvPr/>
        </p:nvSpPr>
        <p:spPr bwMode="auto">
          <a:xfrm rot="0" flipH="0" flipV="0">
            <a:off x="15240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业务板块 C：数字化转型</a:t>
            </a:r>
            <a:endParaRPr lang="en-US" sz="1100"/>
          </a:p>
        </p:txBody>
      </p:sp>
      <p:sp>
        <p:nvSpPr>
          <p:cNvPr id="1724082318" name="AutoShape 15"/>
          <p:cNvSpPr/>
          <p:nvPr/>
        </p:nvSpPr>
        <p:spPr bwMode="auto">
          <a:xfrm rot="0" flipH="0" flipV="0">
            <a:off x="1016000" y="5016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定位：构建数据驱动的智能决策体系，提升运营效能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目标：核心业务流程数字化率 100%，数据中台上线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策略：引入 AI 技术，实现自动化生产与精准营销</a:t>
            </a:r>
            <a:endParaRPr/>
          </a:p>
        </p:txBody>
      </p:sp>
      <p:sp>
        <p:nvSpPr>
          <p:cNvPr id="1553141602" name="AutoShape 16"/>
          <p:cNvSpPr/>
          <p:nvPr/>
        </p:nvSpPr>
        <p:spPr bwMode="auto">
          <a:xfrm rot="0" flipH="0" flipV="0">
            <a:off x="6223000" y="4318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06987180" name="Picture 17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0" flipH="0" flipV="0">
            <a:off x="6477000" y="4572000"/>
            <a:ext cx="406400" cy="406400"/>
          </a:xfrm>
          <a:prstGeom prst="rect">
            <a:avLst/>
          </a:prstGeom>
        </p:spPr>
      </p:pic>
      <p:sp>
        <p:nvSpPr>
          <p:cNvPr id="1726601307" name="AutoShape 18"/>
          <p:cNvSpPr/>
          <p:nvPr/>
        </p:nvSpPr>
        <p:spPr bwMode="auto">
          <a:xfrm rot="0" flipH="0" flipV="0">
            <a:off x="69850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新兴业务探索：前瞻布局</a:t>
            </a:r>
            <a:endParaRPr lang="en-US" sz="1100"/>
          </a:p>
        </p:txBody>
      </p:sp>
      <p:sp>
        <p:nvSpPr>
          <p:cNvPr id="1460537777" name="AutoShape 19"/>
          <p:cNvSpPr/>
          <p:nvPr/>
        </p:nvSpPr>
        <p:spPr bwMode="auto">
          <a:xfrm rot="0" flipH="0" flipV="0">
            <a:off x="6477000" y="5016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定位：孵化具有高增长潜力的前沿科技与绿色能源项目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目标：孵化 2-3 个创新项目，建立企业级创新实验室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策略：设立专项创投基金，加强产学研合作与技术并购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821661" name="AutoShape 2"/>
          <p:cNvSpPr/>
          <p:nvPr/>
        </p:nvSpPr>
        <p:spPr bwMode="auto">
          <a:xfrm rot="0" flipH="0" flipV="0"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关键战略举措与实施路径</a:t>
            </a:r>
            <a:endParaRPr lang="en-US" sz="1100"/>
          </a:p>
        </p:txBody>
      </p:sp>
      <p:sp>
        <p:nvSpPr>
          <p:cNvPr id="226146675" name="AutoShape 3"/>
          <p:cNvSpPr/>
          <p:nvPr/>
        </p:nvSpPr>
        <p:spPr bwMode="auto">
          <a:xfrm rot="0" flipH="0" flipV="0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699405" name="Picture 4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1754152209" name="AutoShape 5"/>
          <p:cNvSpPr/>
          <p:nvPr/>
        </p:nvSpPr>
        <p:spPr bwMode="auto">
          <a:xfrm rot="0" flipH="0" flipV="0">
            <a:off x="1524000" y="2260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</a:rPr>
              <a:t>短期举措 (1-2年)</a:t>
            </a:r>
            <a:endParaRPr lang="en-US" sz="1100"/>
          </a:p>
        </p:txBody>
      </p:sp>
      <p:cxnSp>
        <p:nvCxnSpPr>
          <p:cNvPr id="1556180544" name="Connector 6"/>
          <p:cNvCxnSpPr/>
          <p:nvPr/>
        </p:nvCxnSpPr>
        <p:spPr bwMode="auto">
          <a:xfrm rot="-15626" flipH="0" flipV="0">
            <a:off x="1016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283041" name="AutoShape 7"/>
          <p:cNvSpPr/>
          <p:nvPr/>
        </p:nvSpPr>
        <p:spPr bwMode="auto">
          <a:xfrm rot="0" flipH="0" flipV="0">
            <a:off x="1016000" y="2921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组织架构优化调整，提升决策效率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启动数字化转型重点项目建设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建立核心人才培养与激励机制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里程碑：完成一期系统上线</a:t>
            </a:r>
            <a:endParaRPr/>
          </a:p>
        </p:txBody>
      </p:sp>
      <p:sp>
        <p:nvSpPr>
          <p:cNvPr id="1446884120" name="AutoShape 8"/>
          <p:cNvSpPr/>
          <p:nvPr/>
        </p:nvSpPr>
        <p:spPr bwMode="auto">
          <a:xfrm rot="0" flipH="0" flipV="0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74813167" name="Picture 9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998267056" name="AutoShape 10"/>
          <p:cNvSpPr/>
          <p:nvPr/>
        </p:nvSpPr>
        <p:spPr bwMode="auto">
          <a:xfrm rot="0" flipH="0" flipV="0">
            <a:off x="5207000" y="2260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</a:rPr>
              <a:t>中期举措 (3-4年)</a:t>
            </a:r>
            <a:endParaRPr lang="en-US" sz="1100"/>
          </a:p>
        </p:txBody>
      </p:sp>
      <p:cxnSp>
        <p:nvCxnSpPr>
          <p:cNvPr id="1798757257" name="Connector 11"/>
          <p:cNvCxnSpPr/>
          <p:nvPr/>
        </p:nvCxnSpPr>
        <p:spPr bwMode="auto">
          <a:xfrm rot="-15626" flipH="0" flipV="0">
            <a:off x="469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8072052" name="AutoShape 12"/>
          <p:cNvSpPr/>
          <p:nvPr/>
        </p:nvSpPr>
        <p:spPr bwMode="auto">
          <a:xfrm rot="0" flipH="0" flipV="0">
            <a:off x="4699000" y="2921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市场份额提升至行业Top 3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新产品矩阵全面上市推广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构建全渠道营销服务体系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里程碑：营收突破百亿大关</a:t>
            </a:r>
            <a:endParaRPr/>
          </a:p>
        </p:txBody>
      </p:sp>
      <p:sp>
        <p:nvSpPr>
          <p:cNvPr id="619479541" name="AutoShape 13"/>
          <p:cNvSpPr/>
          <p:nvPr/>
        </p:nvSpPr>
        <p:spPr bwMode="auto">
          <a:xfrm rot="0" flipH="0" flipV="0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8298602" name="Picture 1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rot="0" flipH="0" flipV="0"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391092212" name="AutoShape 15"/>
          <p:cNvSpPr/>
          <p:nvPr/>
        </p:nvSpPr>
        <p:spPr bwMode="auto">
          <a:xfrm rot="0" flipH="0" flipV="0">
            <a:off x="8890000" y="2260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</a:rPr>
              <a:t>长期举措 (5年及以后)</a:t>
            </a:r>
            <a:endParaRPr lang="en-US" sz="1100"/>
          </a:p>
        </p:txBody>
      </p:sp>
      <p:cxnSp>
        <p:nvCxnSpPr>
          <p:cNvPr id="546517754" name="Connector 16"/>
          <p:cNvCxnSpPr/>
          <p:nvPr/>
        </p:nvCxnSpPr>
        <p:spPr bwMode="auto">
          <a:xfrm rot="-15626" flipH="0" flipV="0">
            <a:off x="8382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6652077" name="AutoShape 17"/>
          <p:cNvSpPr/>
          <p:nvPr/>
        </p:nvSpPr>
        <p:spPr bwMode="auto">
          <a:xfrm rot="0" flipH="0" flipV="0">
            <a:off x="8382000" y="2921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构建开放共赢的产业生态体系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推进全球化战略布局与落地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确立行业技术标准与话语权</a:t>
            </a:r>
            <a:endParaRPr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</a:rPr>
              <a:t>里程碑：成为全球行业标杆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364790" name="AutoShape 2"/>
          <p:cNvSpPr/>
          <p:nvPr/>
        </p:nvSpPr>
        <p:spPr bwMode="auto">
          <a:xfrm rot="0" flipH="0" flipV="0"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资源保障与风险管控</a:t>
            </a:r>
            <a:endParaRPr lang="en-US" sz="1100"/>
          </a:p>
        </p:txBody>
      </p:sp>
      <p:sp>
        <p:nvSpPr>
          <p:cNvPr id="1758843539" name="AutoShape 3"/>
          <p:cNvSpPr/>
          <p:nvPr/>
        </p:nvSpPr>
        <p:spPr bwMode="auto">
          <a:xfrm rot="0" flipH="0" flipV="0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3758097" name="AutoShape 4"/>
          <p:cNvSpPr/>
          <p:nvPr/>
        </p:nvSpPr>
        <p:spPr bwMode="auto">
          <a:xfrm rot="0" flipH="0" flipV="0">
            <a:off x="1016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</a:rPr>
              <a:t>全方位资源保障体系</a:t>
            </a:r>
            <a:endParaRPr lang="en-US" sz="1100"/>
          </a:p>
        </p:txBody>
      </p:sp>
      <p:cxnSp>
        <p:nvCxnSpPr>
          <p:cNvPr id="1213289870" name="Connector 5"/>
          <p:cNvCxnSpPr/>
          <p:nvPr/>
        </p:nvCxnSpPr>
        <p:spPr bwMode="auto">
          <a:xfrm rot="-9549" flipH="0" flipV="0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BBF2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13732689" name="Picture 6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1719725663" name="AutoShape 7"/>
          <p:cNvSpPr/>
          <p:nvPr/>
        </p:nvSpPr>
        <p:spPr bwMode="auto">
          <a:xfrm rot="0" flipH="0" flipV="0">
            <a:off x="1460500" y="2946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人力资源支持</a:t>
            </a:r>
            <a:endParaRPr lang="en-US" sz="1100"/>
          </a:p>
        </p:txBody>
      </p:sp>
      <p:sp>
        <p:nvSpPr>
          <p:cNvPr id="1821442483" name="AutoShape 8"/>
          <p:cNvSpPr/>
          <p:nvPr/>
        </p:nvSpPr>
        <p:spPr bwMode="auto">
          <a:xfrm rot="0" flipH="0" flipV="0">
            <a:off x="1460500" y="32766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实施人才引进与培养计划，重点打造核心技术团队与管理梯队。</a:t>
            </a:r>
            <a:endParaRPr lang="en-US" sz="1100"/>
          </a:p>
        </p:txBody>
      </p:sp>
      <p:pic>
        <p:nvPicPr>
          <p:cNvPr id="1145286333" name="Picture 9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1616505889" name="AutoShape 10"/>
          <p:cNvSpPr/>
          <p:nvPr/>
        </p:nvSpPr>
        <p:spPr bwMode="auto">
          <a:xfrm rot="0" flipH="0" flipV="0">
            <a:off x="1460500" y="3835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财务资源配置</a:t>
            </a:r>
            <a:endParaRPr lang="en-US" sz="1100"/>
          </a:p>
        </p:txBody>
      </p:sp>
      <p:sp>
        <p:nvSpPr>
          <p:cNvPr id="153476544" name="AutoShape 11"/>
          <p:cNvSpPr/>
          <p:nvPr/>
        </p:nvSpPr>
        <p:spPr bwMode="auto">
          <a:xfrm rot="0" flipH="0" flipV="0">
            <a:off x="1460500" y="41656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科学规划年度预算，多渠道筹措资金，确保战略项目的足额投入。</a:t>
            </a:r>
            <a:endParaRPr lang="en-US" sz="1100"/>
          </a:p>
        </p:txBody>
      </p:sp>
      <p:pic>
        <p:nvPicPr>
          <p:cNvPr id="263188899" name="Picture 1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rot="0" flipH="0" flipV="0">
            <a:off x="1016000" y="4762500"/>
            <a:ext cx="304800" cy="304800"/>
          </a:xfrm>
          <a:prstGeom prst="rect">
            <a:avLst/>
          </a:prstGeom>
        </p:spPr>
      </p:pic>
      <p:sp>
        <p:nvSpPr>
          <p:cNvPr id="1156614972" name="AutoShape 13"/>
          <p:cNvSpPr/>
          <p:nvPr/>
        </p:nvSpPr>
        <p:spPr bwMode="auto">
          <a:xfrm rot="0" flipH="0" flipV="0">
            <a:off x="1460500" y="4724399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技术研发平台</a:t>
            </a:r>
            <a:endParaRPr lang="en-US" sz="1100"/>
          </a:p>
        </p:txBody>
      </p:sp>
      <p:sp>
        <p:nvSpPr>
          <p:cNvPr id="945868482" name="AutoShape 14"/>
          <p:cNvSpPr/>
          <p:nvPr/>
        </p:nvSpPr>
        <p:spPr bwMode="auto">
          <a:xfrm rot="0" flipH="0" flipV="0">
            <a:off x="1460500" y="50546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建设先进研发平台，集中优势力量攻克核心技术难题，构筑技术壁垒。</a:t>
            </a:r>
            <a:endParaRPr lang="en-US" sz="1100"/>
          </a:p>
        </p:txBody>
      </p:sp>
      <p:sp>
        <p:nvSpPr>
          <p:cNvPr id="599105970" name="AutoShape 15"/>
          <p:cNvSpPr/>
          <p:nvPr/>
        </p:nvSpPr>
        <p:spPr bwMode="auto">
          <a:xfrm rot="0" flipH="0" flipV="0">
            <a:off x="6350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7999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0116147" name="AutoShape 16"/>
          <p:cNvSpPr/>
          <p:nvPr/>
        </p:nvSpPr>
        <p:spPr bwMode="auto">
          <a:xfrm rot="0" flipH="0" flipV="0"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</a:rPr>
              <a:t>全流程风险管控机制</a:t>
            </a:r>
            <a:endParaRPr lang="en-US" sz="1100"/>
          </a:p>
        </p:txBody>
      </p:sp>
      <p:cxnSp>
        <p:nvCxnSpPr>
          <p:cNvPr id="757761714" name="Connector 17"/>
          <p:cNvCxnSpPr/>
          <p:nvPr/>
        </p:nvCxnSpPr>
        <p:spPr bwMode="auto">
          <a:xfrm rot="-9549" flipH="0" flipV="0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BBF2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7424523" name="Picture 18"/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 bwMode="auto">
          <a:xfrm rot="0" flipH="0" flipV="0">
            <a:off x="6604000" y="2984500"/>
            <a:ext cx="304800" cy="304800"/>
          </a:xfrm>
          <a:prstGeom prst="rect">
            <a:avLst/>
          </a:prstGeom>
        </p:spPr>
      </p:pic>
      <p:sp>
        <p:nvSpPr>
          <p:cNvPr id="1868496892" name="AutoShape 19"/>
          <p:cNvSpPr/>
          <p:nvPr/>
        </p:nvSpPr>
        <p:spPr bwMode="auto">
          <a:xfrm rot="0" flipH="0" flipV="0">
            <a:off x="7048500" y="2946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多维度风险识别</a:t>
            </a:r>
            <a:endParaRPr lang="en-US" sz="1100"/>
          </a:p>
        </p:txBody>
      </p:sp>
      <p:sp>
        <p:nvSpPr>
          <p:cNvPr id="1697948408" name="AutoShape 20"/>
          <p:cNvSpPr/>
          <p:nvPr/>
        </p:nvSpPr>
        <p:spPr bwMode="auto">
          <a:xfrm rot="0" flipH="0" flipV="0">
            <a:off x="7048500" y="32766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建立全面的风险评估体系，重点识别市场波动、技术迭代及运营管理中的潜在风险点。</a:t>
            </a:r>
            <a:endParaRPr lang="en-US" sz="1100"/>
          </a:p>
        </p:txBody>
      </p:sp>
      <p:pic>
        <p:nvPicPr>
          <p:cNvPr id="1962028818" name="Picture 21"/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 bwMode="auto">
          <a:xfrm rot="0" flipH="0" flipV="0">
            <a:off x="6604000" y="4254500"/>
            <a:ext cx="304800" cy="304800"/>
          </a:xfrm>
          <a:prstGeom prst="rect">
            <a:avLst/>
          </a:prstGeom>
        </p:spPr>
      </p:pic>
      <p:sp>
        <p:nvSpPr>
          <p:cNvPr id="1801933316" name="AutoShape 22"/>
          <p:cNvSpPr/>
          <p:nvPr/>
        </p:nvSpPr>
        <p:spPr bwMode="auto">
          <a:xfrm rot="0" flipH="0" flipV="0">
            <a:off x="7048500" y="4216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主动式应对策略</a:t>
            </a:r>
            <a:endParaRPr lang="en-US" sz="1100"/>
          </a:p>
        </p:txBody>
      </p:sp>
      <p:sp>
        <p:nvSpPr>
          <p:cNvPr id="759527479" name="AutoShape 23"/>
          <p:cNvSpPr/>
          <p:nvPr/>
        </p:nvSpPr>
        <p:spPr bwMode="auto">
          <a:xfrm rot="0" flipH="0" flipV="0">
            <a:off x="7048500" y="45466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构建实时风险预警机制，制定分级应急预案，确保在风险发生时能迅速响应，降低损失。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303068" name="AutoShape 2"/>
          <p:cNvSpPr/>
          <p:nvPr/>
        </p:nvSpPr>
        <p:spPr bwMode="auto">
          <a:xfrm rot="0" flipH="0" flipV="0"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总结与展望</a:t>
            </a:r>
            <a:endParaRPr lang="en-US" sz="1100"/>
          </a:p>
        </p:txBody>
      </p:sp>
      <p:cxnSp>
        <p:nvCxnSpPr>
          <p:cNvPr id="471150498" name="Connector 3"/>
          <p:cNvCxnSpPr/>
          <p:nvPr/>
        </p:nvCxnSpPr>
        <p:spPr bwMode="auto">
          <a:xfrm rot="-42966" flipH="0" flipV="0">
            <a:off x="762040" y="17716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59E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21635998" name="AutoShape 4"/>
          <p:cNvSpPr/>
          <p:nvPr/>
        </p:nvSpPr>
        <p:spPr bwMode="auto">
          <a:xfrm rot="0" flipH="0" flipV="0">
            <a:off x="762000" y="2286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1975987" name="Picture 5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2095500" y="2667000"/>
            <a:ext cx="635000" cy="635000"/>
          </a:xfrm>
          <a:prstGeom prst="rect">
            <a:avLst/>
          </a:prstGeom>
        </p:spPr>
      </p:pic>
      <p:sp>
        <p:nvSpPr>
          <p:cNvPr id="258601159" name="AutoShape 6"/>
          <p:cNvSpPr/>
          <p:nvPr/>
        </p:nvSpPr>
        <p:spPr bwMode="auto">
          <a:xfrm rot="0" flipH="0" flipV="0">
            <a:off x="889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核心总结</a:t>
            </a:r>
            <a:endParaRPr lang="en-US" sz="1100"/>
          </a:p>
        </p:txBody>
      </p:sp>
      <p:sp>
        <p:nvSpPr>
          <p:cNvPr id="1337308876" name="AutoShape 7"/>
          <p:cNvSpPr/>
          <p:nvPr/>
        </p:nvSpPr>
        <p:spPr bwMode="auto">
          <a:xfrm rot="0" flipH="0" flipV="0">
            <a:off x="952500" y="3937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回顾本次战略规划的核心内容，强调战略的重要性和可行性，确保全员对目标的深刻理解与认同。</a:t>
            </a:r>
            <a:endParaRPr lang="en-US" sz="1100"/>
          </a:p>
        </p:txBody>
      </p:sp>
      <p:sp>
        <p:nvSpPr>
          <p:cNvPr id="1169967678" name="AutoShape 8"/>
          <p:cNvSpPr/>
          <p:nvPr/>
        </p:nvSpPr>
        <p:spPr bwMode="auto">
          <a:xfrm rot="0" flipH="0" flipV="0">
            <a:off x="4445000" y="2286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77772439" name="Picture 9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5778500" y="2667000"/>
            <a:ext cx="635000" cy="635000"/>
          </a:xfrm>
          <a:prstGeom prst="rect">
            <a:avLst/>
          </a:prstGeom>
        </p:spPr>
      </p:pic>
      <p:sp>
        <p:nvSpPr>
          <p:cNvPr id="1412774811" name="AutoShape 10"/>
          <p:cNvSpPr/>
          <p:nvPr/>
        </p:nvSpPr>
        <p:spPr bwMode="auto">
          <a:xfrm rot="0" flipH="0" flipV="0">
            <a:off x="4572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未来展望</a:t>
            </a:r>
            <a:endParaRPr lang="en-US" sz="1100"/>
          </a:p>
        </p:txBody>
      </p:sp>
      <p:sp>
        <p:nvSpPr>
          <p:cNvPr id="1001709013" name="AutoShape 11"/>
          <p:cNvSpPr/>
          <p:nvPr/>
        </p:nvSpPr>
        <p:spPr bwMode="auto">
          <a:xfrm rot="0" flipH="0" flipV="0">
            <a:off x="4635500" y="3937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激励团队共同努力，聚焦创新与增长，为实现集团宏伟蓝图而奋斗，把握未来五年的发展机遇。</a:t>
            </a:r>
            <a:endParaRPr lang="en-US" sz="1100"/>
          </a:p>
        </p:txBody>
      </p:sp>
      <p:sp>
        <p:nvSpPr>
          <p:cNvPr id="90638384" name="AutoShape 12"/>
          <p:cNvSpPr/>
          <p:nvPr/>
        </p:nvSpPr>
        <p:spPr bwMode="auto">
          <a:xfrm rot="0" flipH="0" flipV="0">
            <a:off x="8128000" y="2286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07352319" name="Picture 13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rot="0" flipH="0" flipV="0">
            <a:off x="9461500" y="2667000"/>
            <a:ext cx="635000" cy="635000"/>
          </a:xfrm>
          <a:prstGeom prst="rect">
            <a:avLst/>
          </a:prstGeom>
        </p:spPr>
      </p:pic>
      <p:sp>
        <p:nvSpPr>
          <p:cNvPr id="990367285" name="AutoShape 14"/>
          <p:cNvSpPr/>
          <p:nvPr/>
        </p:nvSpPr>
        <p:spPr bwMode="auto">
          <a:xfrm rot="0" flipH="0" flipV="0">
            <a:off x="8255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行动号召</a:t>
            </a:r>
            <a:endParaRPr lang="en-US" sz="1100"/>
          </a:p>
        </p:txBody>
      </p:sp>
      <p:sp>
        <p:nvSpPr>
          <p:cNvPr id="930404604" name="AutoShape 15"/>
          <p:cNvSpPr/>
          <p:nvPr/>
        </p:nvSpPr>
        <p:spPr bwMode="auto">
          <a:xfrm rot="0" flipH="0" flipV="0">
            <a:off x="8318500" y="3937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号召全体员工积极投身到战略实施中，凝聚共识，协同作战，共创集团美好的未来。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452953" name="AutoShape 2"/>
          <p:cNvSpPr/>
          <p:nvPr/>
        </p:nvSpPr>
        <p:spPr bwMode="auto">
          <a:xfrm rot="0" flipH="0" flipV="0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6869946" name="AutoShape 3"/>
          <p:cNvSpPr/>
          <p:nvPr/>
        </p:nvSpPr>
        <p:spPr bwMode="auto">
          <a:xfrm rot="0" flipH="0" flipV="0"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感谢聆听</a:t>
            </a:r>
            <a:endParaRPr lang="en-US" sz="1100"/>
          </a:p>
        </p:txBody>
      </p:sp>
      <p:sp>
        <p:nvSpPr>
          <p:cNvPr id="663655041" name="AutoShape 4"/>
          <p:cNvSpPr/>
          <p:nvPr/>
        </p:nvSpPr>
        <p:spPr bwMode="auto">
          <a:xfrm rot="0" flipH="0" flipV="0">
            <a:off x="1016000" y="279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THANKS FOR LISTENING</a:t>
            </a:r>
            <a:endParaRPr lang="en-US" sz="1100"/>
          </a:p>
        </p:txBody>
      </p:sp>
      <p:cxnSp>
        <p:nvCxnSpPr>
          <p:cNvPr id="1734688500" name="Connector 5"/>
          <p:cNvCxnSpPr/>
          <p:nvPr/>
        </p:nvCxnSpPr>
        <p:spPr bwMode="auto">
          <a:xfrm rot="-34375" flipH="0" flipV="0">
            <a:off x="5461032" y="3359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66751653" name="Picture 6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5791200" y="3683000"/>
            <a:ext cx="609600" cy="609600"/>
          </a:xfrm>
          <a:prstGeom prst="rect">
            <a:avLst/>
          </a:prstGeom>
        </p:spPr>
      </p:pic>
      <p:sp>
        <p:nvSpPr>
          <p:cNvPr id="1977439293" name="AutoShape 7"/>
          <p:cNvSpPr/>
          <p:nvPr/>
        </p:nvSpPr>
        <p:spPr bwMode="auto">
          <a:xfrm rot="0" flipH="0" flipV="0">
            <a:off x="3556000" y="438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集团战略规划部</a:t>
            </a:r>
            <a:endParaRPr lang="en-US" sz="1100"/>
          </a:p>
        </p:txBody>
      </p:sp>
      <p:pic>
        <p:nvPicPr>
          <p:cNvPr id="1143320113" name="Picture 8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rot="0" flipH="0" flipV="0">
            <a:off x="4572000" y="5334000"/>
            <a:ext cx="203200" cy="203200"/>
          </a:xfrm>
          <a:prstGeom prst="rect">
            <a:avLst/>
          </a:prstGeom>
        </p:spPr>
      </p:pic>
      <p:sp>
        <p:nvSpPr>
          <p:cNvPr id="1527723226" name="AutoShape 9"/>
          <p:cNvSpPr/>
          <p:nvPr/>
        </p:nvSpPr>
        <p:spPr bwMode="auto">
          <a:xfrm rot="0" flipH="0" flipV="0">
            <a:off x="4826000" y="5308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</a:rPr>
              <a:t>联系电话：010-8888 6666</a:t>
            </a:r>
            <a:endParaRPr lang="en-US" sz="1100"/>
          </a:p>
        </p:txBody>
      </p:sp>
      <p:pic>
        <p:nvPicPr>
          <p:cNvPr id="1812466617" name="Picture 10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张明</cp:lastModifiedBy>
  <cp:revision>4</cp:revision>
  <dcterms:modified xsi:type="dcterms:W3CDTF">2026-03-19T02:09:13Z</dcterms:modified>
</cp:coreProperties>
</file>