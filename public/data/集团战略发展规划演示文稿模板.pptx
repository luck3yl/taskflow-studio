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5.xml" ContentType="application/vnd.openxmlformats-officedocument.presentationml.slide+xml"/>
  <Override PartName="/ppt/slideMasters/slideMaster2.xml" ContentType="application/vnd.openxmlformats-officedocument.presentationml.slideMaster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trictFirstAndLastChars="0">
  <p:sldMasterIdLst>
    <p:sldMasterId id="2147483648" r:id="rId1"/>
    <p:sldMasterId id="2147483660" r:id="rId2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711125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6951992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B7268E1E-0E44-426D-905E-8AD9B19D2182}" type="datetimeFigureOut">
              <a:rPr lang="cs-CZ"/>
              <a:t>1.7.2013</a:t>
            </a:fld>
            <a:endParaRPr lang="cs-CZ"/>
          </a:p>
        </p:txBody>
      </p:sp>
      <p:sp>
        <p:nvSpPr>
          <p:cNvPr id="59592739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cs-CZ"/>
          </a:p>
        </p:txBody>
      </p:sp>
      <p:sp>
        <p:nvSpPr>
          <p:cNvPr id="168322405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cs-CZ"/>
          </a:p>
        </p:txBody>
      </p:sp>
      <p:sp>
        <p:nvSpPr>
          <p:cNvPr id="197046108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85337484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871B2431-D351-4C6E-A3CF-9DFAC0E3E050}" type="slidenum">
              <a:rPr lang="cs-CZ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67462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1857791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10429695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87396142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大家好，欢迎参加本次集团战略发展规划发布会。今天，我们将共同探讨集团未来五年的发展蓝图，明确我们的战略方向、目标与核心举措，为集团的持续增长和行业领先地位奠定坚实基础。</a:t>
            </a:r>
            <a:endParaRPr/>
          </a:p>
        </p:txBody>
      </p:sp>
      <p:sp>
        <p:nvSpPr>
          <p:cNvPr id="916761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6402932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31102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0496718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94856700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27579027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本次汇报将分为七个部分，首先我们将分析当前的战略背景与形势，明确我们面临的机遇与挑战。接着，我们将重申集团的愿景、使命与价值观，并提出未来五年的总体战略目标和核心战略。之后，会详细阐述各业务板块的具体规划、关键战略举措、资源保障措施以及风险管控方案，最后进行总结与展望。</a:t>
            </a:r>
            <a:endParaRPr/>
          </a:p>
        </p:txBody>
      </p:sp>
      <p:sp>
        <p:nvSpPr>
          <p:cNvPr id="70092651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4374251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03494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6405915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97462164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06461757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在制定新的战略之前，我们必须清晰地认识我们所处的环境。本章节将从宏观环境、行业竞争格局以及内部能力三个维度进行分析，明确我们面临的挑战与机遇，为后续战略的制定提供依据。</a:t>
            </a:r>
            <a:endParaRPr/>
          </a:p>
        </p:txBody>
      </p:sp>
      <p:sp>
        <p:nvSpPr>
          <p:cNvPr id="169514597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7389128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228952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2024079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135593034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40376688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我们的战略规划始终围绕着集团的愿景、使命和核心价值观展开。这是我们一切行动的出发点和归宿，指引我们在未来五年乃至更长远的发展道路上，不忘初心，砥砺前行。</a:t>
            </a:r>
            <a:endParaRPr/>
          </a:p>
        </p:txBody>
      </p:sp>
      <p:sp>
        <p:nvSpPr>
          <p:cNvPr id="2524511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3822764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49511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6703167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70625677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17948275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基于形势分析和我们的愿景使命，我们制定了未来五年的总体战略目标，并确立了四大核心战略作为实现目标的关键路径。这些目标和战略将是指导我们未来一切工作的纲领。</a:t>
            </a:r>
            <a:endParaRPr/>
          </a:p>
        </p:txBody>
      </p:sp>
      <p:sp>
        <p:nvSpPr>
          <p:cNvPr id="147008335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3407629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0371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1472676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110909664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02433363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集团的总体战略需要分解到各个业务板块来执行。本章节将详细阐述各业务板块的具体战略规划，明确各自的定位、目标和发展策略，确保集团整体战略的有效落地。</a:t>
            </a:r>
            <a:endParaRPr/>
          </a:p>
        </p:txBody>
      </p:sp>
      <p:sp>
        <p:nvSpPr>
          <p:cNvPr id="3602837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2041743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346998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769304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12228296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82774702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为了确保战略目标的实现，我们制定了清晰的实施路径和关键举措。这些举措将分阶段、有步骤地推进，确保集团战略能够有条不紊地落地执行，并在关键节点取得预期成果。</a:t>
            </a:r>
            <a:endParaRPr/>
          </a:p>
        </p:txBody>
      </p:sp>
      <p:sp>
        <p:nvSpPr>
          <p:cNvPr id="213141576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7723663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326376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6708593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31820208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5997333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战略的成功实施离不开充足的资源保障和有效的风险管控。我们将从人力、财务、技术等方面提供全方位支持，并建立完善的风险预警和应对机制，确保战略目标的顺利实现。</a:t>
            </a:r>
            <a:endParaRPr/>
          </a:p>
        </p:txBody>
      </p:sp>
      <p:sp>
        <p:nvSpPr>
          <p:cNvPr id="177017642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5277322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484906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6459261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156068172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2184712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最后，我们对本次战略规划进行简要总结。这份规划描绘了集团未来五年的发展蓝图，充满了机遇与挑战。我们坚信，在全体员工的共同努力下，我们一定能够实现既定目标，开创集团发展的新篇章！谢谢大家！</a:t>
            </a:r>
            <a:endParaRPr/>
          </a:p>
        </p:txBody>
      </p:sp>
      <p:sp>
        <p:nvSpPr>
          <p:cNvPr id="96657231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2240627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12150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2417875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1.7.2013</a:t>
            </a:r>
            <a:endParaRPr/>
          </a:p>
        </p:txBody>
      </p:sp>
      <p:sp>
        <p:nvSpPr>
          <p:cNvPr id="54829307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78656467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</a:rPr>
              <a:t>我的汇报到此结束，再次感谢各位的聆听！</a:t>
            </a:r>
            <a:endParaRPr/>
          </a:p>
        </p:txBody>
      </p:sp>
      <p:sp>
        <p:nvSpPr>
          <p:cNvPr id="115494926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7460833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标题幻灯片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1987546" name="Shape 30"/>
          <p:cNvSpPr txBox="1"/>
          <p:nvPr>
            <p:ph type="ctrTitle"/>
          </p:nvPr>
        </p:nvSpPr>
        <p:spPr bwMode="auto"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31132004" name="Shape 31"/>
          <p:cNvSpPr txBox="1"/>
          <p:nvPr>
            <p:ph type="subTitle" idx="1"/>
          </p:nvPr>
        </p:nvSpPr>
        <p:spPr bwMode="auto"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420649016" name="Shape 32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23411255" name="Shape 33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8431849" name="Shape 34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标题和内容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277669" name="Shape 54"/>
          <p:cNvSpPr txBox="1"/>
          <p:nvPr>
            <p:ph type="title"/>
          </p:nvPr>
        </p:nvSpPr>
        <p:spPr bwMode="auto"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87907322" name="Shape 55"/>
          <p:cNvSpPr txBox="1"/>
          <p:nvPr>
            <p:ph type="body" idx="1"/>
          </p:nvPr>
        </p:nvSpPr>
        <p:spPr bwMode="auto">
          <a:xfrm>
            <a:off x="628650" y="1369218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67964257" name="Shape 56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35227341" name="Shape 57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00752659" name="Shape 58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节标题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163761" name="Shape 59"/>
          <p:cNvSpPr txBox="1"/>
          <p:nvPr>
            <p:ph type="title"/>
          </p:nvPr>
        </p:nvSpPr>
        <p:spPr bwMode="auto"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11884790" name="Shape 60"/>
          <p:cNvSpPr txBox="1"/>
          <p:nvPr>
            <p:ph type="body" idx="1"/>
          </p:nvPr>
        </p:nvSpPr>
        <p:spPr bwMode="auto"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79906591" name="Shape 61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8962283" name="Shape 62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65610555" name="Shape 63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两栏内容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996976" name="Shape 9"/>
          <p:cNvSpPr txBox="1"/>
          <p:nvPr>
            <p:ph type="title"/>
          </p:nvPr>
        </p:nvSpPr>
        <p:spPr bwMode="auto"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61586985" name="Shape 10"/>
          <p:cNvSpPr txBox="1"/>
          <p:nvPr>
            <p:ph type="body" idx="1"/>
          </p:nvPr>
        </p:nvSpPr>
        <p:spPr bwMode="auto">
          <a:xfrm>
            <a:off x="628650" y="1369218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27213641" name="Shape 11"/>
          <p:cNvSpPr txBox="1"/>
          <p:nvPr>
            <p:ph type="body" idx="2"/>
          </p:nvPr>
        </p:nvSpPr>
        <p:spPr bwMode="auto">
          <a:xfrm>
            <a:off x="4629150" y="1369218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99186254" name="Shape 12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10654902" name="Shape 13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82230437" name="Shape 14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比较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533199" name="Shape 35"/>
          <p:cNvSpPr txBox="1"/>
          <p:nvPr>
            <p:ph type="title"/>
          </p:nvPr>
        </p:nvSpPr>
        <p:spPr bwMode="auto"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14777480" name="Shape 36"/>
          <p:cNvSpPr txBox="1"/>
          <p:nvPr>
            <p:ph type="body" idx="1"/>
          </p:nvPr>
        </p:nvSpPr>
        <p:spPr bwMode="auto"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>
              <a:defRPr/>
            </a:pPr>
            <a:endParaRPr/>
          </a:p>
        </p:txBody>
      </p:sp>
      <p:sp>
        <p:nvSpPr>
          <p:cNvPr id="515727825" name="Shape 37"/>
          <p:cNvSpPr txBox="1"/>
          <p:nvPr>
            <p:ph type="body" idx="2"/>
          </p:nvPr>
        </p:nvSpPr>
        <p:spPr bwMode="auto"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43339434" name="Shape 38"/>
          <p:cNvSpPr txBox="1"/>
          <p:nvPr>
            <p:ph type="body" idx="3"/>
          </p:nvPr>
        </p:nvSpPr>
        <p:spPr bwMode="auto"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>
              <a:defRPr/>
            </a:pPr>
            <a:endParaRPr/>
          </a:p>
        </p:txBody>
      </p:sp>
      <p:sp>
        <p:nvSpPr>
          <p:cNvPr id="867827360" name="Shape 39"/>
          <p:cNvSpPr txBox="1"/>
          <p:nvPr>
            <p:ph type="body" idx="4"/>
          </p:nvPr>
        </p:nvSpPr>
        <p:spPr bwMode="auto"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26534408" name="Shape 40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98866376" name="Shape 41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05579131" name="Shape 42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仅标题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497518" name="Shape 20"/>
          <p:cNvSpPr txBox="1"/>
          <p:nvPr>
            <p:ph type="title"/>
          </p:nvPr>
        </p:nvSpPr>
        <p:spPr bwMode="auto"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30146939" name="Shape 21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30141292" name="Shape 22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00903266" name="Shape 23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空白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5371652" name="Shape 6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21678864" name="Shape 7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6944022" name="Shape 8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内容与标题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0916765" name="Shape 43"/>
          <p:cNvSpPr txBox="1"/>
          <p:nvPr>
            <p:ph type="title"/>
          </p:nvPr>
        </p:nvSpPr>
        <p:spPr bwMode="auto"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80873550" name="Shape 44"/>
          <p:cNvSpPr txBox="1"/>
          <p:nvPr>
            <p:ph type="body" idx="1"/>
          </p:nvPr>
        </p:nvSpPr>
        <p:spPr bwMode="auto"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pPr>
              <a:defRPr/>
            </a:pPr>
            <a:endParaRPr/>
          </a:p>
        </p:txBody>
      </p:sp>
      <p:sp>
        <p:nvSpPr>
          <p:cNvPr id="1929163603" name="Shape 45"/>
          <p:cNvSpPr txBox="1"/>
          <p:nvPr>
            <p:ph type="body" idx="2"/>
          </p:nvPr>
        </p:nvSpPr>
        <p:spPr bwMode="auto"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>
              <a:defRPr/>
            </a:pPr>
            <a:endParaRPr/>
          </a:p>
        </p:txBody>
      </p:sp>
      <p:sp>
        <p:nvSpPr>
          <p:cNvPr id="1544026041" name="Shape 46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02798568" name="Shape 47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3825409" name="Shape 48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图片与标题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184189" name="Shape 24"/>
          <p:cNvSpPr txBox="1"/>
          <p:nvPr>
            <p:ph type="title"/>
          </p:nvPr>
        </p:nvSpPr>
        <p:spPr bwMode="auto"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63308010" name="Shape 25"/>
          <p:cNvSpPr/>
          <p:nvPr>
            <p:ph type="pic" idx="2"/>
          </p:nvPr>
        </p:nvSpPr>
        <p:spPr bwMode="auto"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600723074" name="Shape 26"/>
          <p:cNvSpPr txBox="1"/>
          <p:nvPr>
            <p:ph type="body" idx="1"/>
          </p:nvPr>
        </p:nvSpPr>
        <p:spPr bwMode="auto"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>
              <a:defRPr/>
            </a:pPr>
            <a:endParaRPr/>
          </a:p>
        </p:txBody>
      </p:sp>
      <p:sp>
        <p:nvSpPr>
          <p:cNvPr id="324499891" name="Shape 27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01172079" name="Shape 28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76622249" name="Shape 29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标题和竖排文字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908111" name="Shape 49"/>
          <p:cNvSpPr txBox="1"/>
          <p:nvPr>
            <p:ph type="title"/>
          </p:nvPr>
        </p:nvSpPr>
        <p:spPr bwMode="auto"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64946915" name="Shape 50"/>
          <p:cNvSpPr txBox="1"/>
          <p:nvPr>
            <p:ph type="body" idx="1"/>
          </p:nvPr>
        </p:nvSpPr>
        <p:spPr bwMode="auto"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45733399" name="Shape 51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2960198" name="Shape 52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31049028" name="Shape 53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竖排标题与文本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348467" name="Shape 15"/>
          <p:cNvSpPr txBox="1"/>
          <p:nvPr>
            <p:ph type="title"/>
          </p:nvPr>
        </p:nvSpPr>
        <p:spPr bwMode="auto"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21962522" name="Shape 16"/>
          <p:cNvSpPr txBox="1"/>
          <p:nvPr>
            <p:ph type="body" idx="1"/>
          </p:nvPr>
        </p:nvSpPr>
        <p:spPr bwMode="auto"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95656496" name="Shape 17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69860712" name="Shape 18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7133072" name="Shape 19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5232599" name="Shape 1"/>
          <p:cNvSpPr txBox="1"/>
          <p:nvPr>
            <p:ph type="title"/>
          </p:nvPr>
        </p:nvSpPr>
        <p:spPr bwMode="auto"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608621669" name="Shape 2"/>
          <p:cNvSpPr txBox="1"/>
          <p:nvPr>
            <p:ph type="body" idx="1"/>
          </p:nvPr>
        </p:nvSpPr>
        <p:spPr bwMode="auto">
          <a:xfrm>
            <a:off x="628650" y="1369218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52211206" name="Shape 3"/>
          <p:cNvSpPr txBox="1"/>
          <p:nvPr>
            <p:ph type="dt" idx="10"/>
          </p:nvPr>
        </p:nvSpPr>
        <p:spPr bwMode="auto"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58439365" name="Shape 4"/>
          <p:cNvSpPr txBox="1"/>
          <p:nvPr>
            <p:ph type="ftr" idx="11"/>
          </p:nvPr>
        </p:nvSpPr>
        <p:spPr bwMode="auto"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8090499" name="Shape 5"/>
          <p:cNvSpPr txBox="1"/>
          <p:nvPr>
            <p:ph type="sldNum" idx="12"/>
          </p:nvPr>
        </p:nvSpPr>
        <p:spPr bwMode="auto"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默认主题">
    <p:bg>
      <p:bgPr shadeToTitle="0"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media1.sv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media2.svg"/><Relationship Id="rId5" Type="http://schemas.openxmlformats.org/officeDocument/2006/relationships/image" Target="../media/image3.png"/><Relationship Id="rId6" Type="http://schemas.openxmlformats.org/officeDocument/2006/relationships/image" Target="../media/media3.svg"/><Relationship Id="rId7" Type="http://schemas.openxmlformats.org/officeDocument/2006/relationships/image" Target="../media/image4.png"/><Relationship Id="rId8" Type="http://schemas.openxmlformats.org/officeDocument/2006/relationships/image" Target="../media/media4.svg"/><Relationship Id="rId9" Type="http://schemas.openxmlformats.org/officeDocument/2006/relationships/image" Target="../media/image5.png"/><Relationship Id="rId10" Type="http://schemas.openxmlformats.org/officeDocument/2006/relationships/image" Target="../media/media5.svg"/><Relationship Id="rId11" Type="http://schemas.openxmlformats.org/officeDocument/2006/relationships/image" Target="../media/image6.png"/><Relationship Id="rId12" Type="http://schemas.openxmlformats.org/officeDocument/2006/relationships/image" Target="../media/media6.svg"/><Relationship Id="rId13" Type="http://schemas.openxmlformats.org/officeDocument/2006/relationships/image" Target="../media/image7.png"/><Relationship Id="rId14" Type="http://schemas.openxmlformats.org/officeDocument/2006/relationships/image" Target="../media/media7.svg"/><Relationship Id="rId15" Type="http://schemas.openxmlformats.org/officeDocument/2006/relationships/image" Target="../media/image8.png"/><Relationship Id="rId16" Type="http://schemas.openxmlformats.org/officeDocument/2006/relationships/image" Target="../media/media8.sv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media9.svg"/><Relationship Id="rId5" Type="http://schemas.openxmlformats.org/officeDocument/2006/relationships/image" Target="../media/image10.png"/><Relationship Id="rId6" Type="http://schemas.openxmlformats.org/officeDocument/2006/relationships/image" Target="../media/media10.svg"/><Relationship Id="rId7" Type="http://schemas.openxmlformats.org/officeDocument/2006/relationships/image" Target="../media/image11.png"/><Relationship Id="rId8" Type="http://schemas.openxmlformats.org/officeDocument/2006/relationships/image" Target="../media/media11.svg"/><Relationship Id="rId9" Type="http://schemas.openxmlformats.org/officeDocument/2006/relationships/image" Target="../media/image12.png"/><Relationship Id="rId10" Type="http://schemas.openxmlformats.org/officeDocument/2006/relationships/image" Target="../media/media12.sv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media13.svg"/><Relationship Id="rId6" Type="http://schemas.openxmlformats.org/officeDocument/2006/relationships/image" Target="../media/image14.png"/><Relationship Id="rId7" Type="http://schemas.openxmlformats.org/officeDocument/2006/relationships/image" Target="../media/media14.sv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media15.svg"/><Relationship Id="rId5" Type="http://schemas.openxmlformats.org/officeDocument/2006/relationships/image" Target="../media/image16.png"/><Relationship Id="rId6" Type="http://schemas.openxmlformats.org/officeDocument/2006/relationships/image" Target="../media/media16.svg"/><Relationship Id="rId7" Type="http://schemas.openxmlformats.org/officeDocument/2006/relationships/image" Target="../media/image17.png"/><Relationship Id="rId8" Type="http://schemas.openxmlformats.org/officeDocument/2006/relationships/image" Target="../media/media17.svg"/><Relationship Id="rId9" Type="http://schemas.openxmlformats.org/officeDocument/2006/relationships/image" Target="../media/image18.png"/><Relationship Id="rId10" Type="http://schemas.openxmlformats.org/officeDocument/2006/relationships/image" Target="../media/media18.svg"/><Relationship Id="rId11" Type="http://schemas.openxmlformats.org/officeDocument/2006/relationships/image" Target="../media/image19.png"/><Relationship Id="rId12" Type="http://schemas.openxmlformats.org/officeDocument/2006/relationships/image" Target="../media/media19.svg"/><Relationship Id="rId13" Type="http://schemas.openxmlformats.org/officeDocument/2006/relationships/image" Target="../media/image20.png"/><Relationship Id="rId14" Type="http://schemas.openxmlformats.org/officeDocument/2006/relationships/image" Target="../media/media20.svg"/><Relationship Id="rId15" Type="http://schemas.openxmlformats.org/officeDocument/2006/relationships/image" Target="../media/image21.png"/><Relationship Id="rId16" Type="http://schemas.openxmlformats.org/officeDocument/2006/relationships/image" Target="../media/media21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png"/><Relationship Id="rId4" Type="http://schemas.openxmlformats.org/officeDocument/2006/relationships/image" Target="../media/media22.svg"/><Relationship Id="rId5" Type="http://schemas.openxmlformats.org/officeDocument/2006/relationships/image" Target="../media/image23.png"/><Relationship Id="rId6" Type="http://schemas.openxmlformats.org/officeDocument/2006/relationships/image" Target="../media/media23.svg"/><Relationship Id="rId7" Type="http://schemas.openxmlformats.org/officeDocument/2006/relationships/image" Target="../media/image24.png"/><Relationship Id="rId8" Type="http://schemas.openxmlformats.org/officeDocument/2006/relationships/image" Target="../media/media24.svg"/><Relationship Id="rId9" Type="http://schemas.openxmlformats.org/officeDocument/2006/relationships/image" Target="../media/image25.png"/><Relationship Id="rId10" Type="http://schemas.openxmlformats.org/officeDocument/2006/relationships/image" Target="../media/media25.sv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6.png"/><Relationship Id="rId4" Type="http://schemas.openxmlformats.org/officeDocument/2006/relationships/image" Target="../media/media26.svg"/><Relationship Id="rId5" Type="http://schemas.openxmlformats.org/officeDocument/2006/relationships/image" Target="../media/image27.png"/><Relationship Id="rId6" Type="http://schemas.openxmlformats.org/officeDocument/2006/relationships/image" Target="../media/media27.svg"/><Relationship Id="rId7" Type="http://schemas.openxmlformats.org/officeDocument/2006/relationships/image" Target="../media/image1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8.png"/><Relationship Id="rId4" Type="http://schemas.openxmlformats.org/officeDocument/2006/relationships/image" Target="../media/media28.svg"/><Relationship Id="rId5" Type="http://schemas.openxmlformats.org/officeDocument/2006/relationships/image" Target="../media/image29.png"/><Relationship Id="rId6" Type="http://schemas.openxmlformats.org/officeDocument/2006/relationships/image" Target="../media/media29.svg"/><Relationship Id="rId7" Type="http://schemas.openxmlformats.org/officeDocument/2006/relationships/image" Target="../media/image17.png"/><Relationship Id="rId8" Type="http://schemas.openxmlformats.org/officeDocument/2006/relationships/image" Target="../media/image30.png"/><Relationship Id="rId9" Type="http://schemas.openxmlformats.org/officeDocument/2006/relationships/image" Target="../media/media30.svg"/><Relationship Id="rId10" Type="http://schemas.openxmlformats.org/officeDocument/2006/relationships/image" Target="../media/image31.png"/><Relationship Id="rId11" Type="http://schemas.openxmlformats.org/officeDocument/2006/relationships/image" Target="../media/media31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media32.svg"/><Relationship Id="rId5" Type="http://schemas.openxmlformats.org/officeDocument/2006/relationships/image" Target="../media/image33.png"/><Relationship Id="rId6" Type="http://schemas.openxmlformats.org/officeDocument/2006/relationships/image" Target="../media/media33.svg"/><Relationship Id="rId7" Type="http://schemas.openxmlformats.org/officeDocument/2006/relationships/image" Target="../media/image34.png"/><Relationship Id="rId8" Type="http://schemas.openxmlformats.org/officeDocument/2006/relationships/image" Target="../media/media3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5.png"/><Relationship Id="rId4" Type="http://schemas.openxmlformats.org/officeDocument/2006/relationships/image" Target="../media/media35.svg"/><Relationship Id="rId5" Type="http://schemas.openxmlformats.org/officeDocument/2006/relationships/image" Target="../media/image36.png"/><Relationship Id="rId6" Type="http://schemas.openxmlformats.org/officeDocument/2006/relationships/image" Target="../media/media36.svg"/><Relationship Id="rId7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B1C3D">
                <a:alpha val="100000"/>
              </a:srgbClr>
            </a:gs>
            <a:gs pos="100000">
              <a:srgbClr val="172A45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815159" name="Picture 2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5791200" y="1524000"/>
            <a:ext cx="609600" cy="609600"/>
          </a:xfrm>
          <a:prstGeom prst="rect">
            <a:avLst/>
          </a:prstGeom>
        </p:spPr>
      </p:pic>
      <p:sp>
        <p:nvSpPr>
          <p:cNvPr id="2089972140" name="AutoShape 3"/>
          <p:cNvSpPr/>
          <p:nvPr/>
        </p:nvSpPr>
        <p:spPr bwMode="auto">
          <a:xfrm rot="0" flipH="0" flipV="0">
            <a:off x="1016000" y="2286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2026集团战略发展规划</a:t>
            </a:r>
            <a:endParaRPr lang="en-US" sz="1100"/>
          </a:p>
        </p:txBody>
      </p:sp>
      <p:sp>
        <p:nvSpPr>
          <p:cNvPr id="607490616" name="AutoShape 4"/>
          <p:cNvSpPr/>
          <p:nvPr/>
        </p:nvSpPr>
        <p:spPr bwMode="auto">
          <a:xfrm rot="0" flipH="0" flipV="0">
            <a:off x="5588000" y="3175000"/>
            <a:ext cx="1016000" cy="50800"/>
          </a:xfrm>
          <a:prstGeom prst="roundRect">
            <a:avLst>
              <a:gd name="adj" fmla="val 0"/>
            </a:avLst>
          </a:prstGeom>
          <a:solidFill>
            <a:srgbClr val="FFD7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41899120" name="AutoShape 5"/>
          <p:cNvSpPr/>
          <p:nvPr/>
        </p:nvSpPr>
        <p:spPr bwMode="auto">
          <a:xfrm rot="0" flipH="0" flipV="0">
            <a:off x="1016000" y="342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2026-2030年发展蓝图</a:t>
            </a:r>
            <a:endParaRPr lang="en-US" sz="1100"/>
          </a:p>
        </p:txBody>
      </p:sp>
      <p:sp>
        <p:nvSpPr>
          <p:cNvPr id="1022990047" name="AutoShape 6"/>
          <p:cNvSpPr/>
          <p:nvPr/>
        </p:nvSpPr>
        <p:spPr bwMode="auto">
          <a:xfrm rot="0" flipH="0" flipV="0">
            <a:off x="0" y="6096000"/>
            <a:ext cx="12192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08414050" name="AutoShape 7"/>
          <p:cNvSpPr/>
          <p:nvPr/>
        </p:nvSpPr>
        <p:spPr bwMode="auto">
          <a:xfrm rot="0" flipH="0" flipV="0">
            <a:off x="1016000" y="6286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汇报单位：集团战略规划部 | 日期：2026年X月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A192F">
                <a:alpha val="100000"/>
              </a:srgbClr>
            </a:gs>
            <a:gs pos="100000">
              <a:srgbClr val="172A45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7831285" name="AutoShape 2"/>
          <p:cNvSpPr/>
          <p:nvPr/>
        </p:nvSpPr>
        <p:spPr bwMode="auto">
          <a:xfrm rot="0" flipH="0" flipV="0">
            <a:off x="762000" y="762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目 录</a:t>
            </a:r>
            <a:endParaRPr lang="en-US" sz="1100"/>
          </a:p>
        </p:txBody>
      </p:sp>
      <p:cxnSp>
        <p:nvCxnSpPr>
          <p:cNvPr id="1130183628" name="Connector 3"/>
          <p:cNvCxnSpPr/>
          <p:nvPr/>
        </p:nvCxnSpPr>
        <p:spPr bwMode="auto">
          <a:xfrm rot="-57290" flipH="0" flipV="0">
            <a:off x="762053" y="1454150"/>
            <a:ext cx="76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D4AF3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39024224" name="AutoShape 4"/>
          <p:cNvSpPr/>
          <p:nvPr/>
        </p:nvSpPr>
        <p:spPr bwMode="auto">
          <a:xfrm rot="0" flipH="0" flipV="0">
            <a:off x="762000" y="17780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25710592" name="Picture 5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006600"/>
            <a:ext cx="558800" cy="558800"/>
          </a:xfrm>
          <a:prstGeom prst="rect">
            <a:avLst/>
          </a:prstGeom>
        </p:spPr>
      </p:pic>
      <p:sp>
        <p:nvSpPr>
          <p:cNvPr id="819785560" name="AutoShape 6"/>
          <p:cNvSpPr/>
          <p:nvPr/>
        </p:nvSpPr>
        <p:spPr bwMode="auto">
          <a:xfrm rot="0" flipH="0" flipV="0">
            <a:off x="1701800" y="1905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01 战略背景与形势分析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宏观环境与行业趋势研判</a:t>
            </a:r>
            <a:endParaRPr/>
          </a:p>
        </p:txBody>
      </p:sp>
      <p:sp>
        <p:nvSpPr>
          <p:cNvPr id="318450733" name="AutoShape 7"/>
          <p:cNvSpPr/>
          <p:nvPr/>
        </p:nvSpPr>
        <p:spPr bwMode="auto">
          <a:xfrm rot="0" flipH="0" flipV="0">
            <a:off x="6223000" y="17780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9582269" name="Picture 8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6477000" y="2006600"/>
            <a:ext cx="558800" cy="558800"/>
          </a:xfrm>
          <a:prstGeom prst="rect">
            <a:avLst/>
          </a:prstGeom>
        </p:spPr>
      </p:pic>
      <p:sp>
        <p:nvSpPr>
          <p:cNvPr id="467143818" name="AutoShape 9"/>
          <p:cNvSpPr/>
          <p:nvPr/>
        </p:nvSpPr>
        <p:spPr bwMode="auto">
          <a:xfrm rot="0" flipH="0" flipV="0">
            <a:off x="7162800" y="1905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02 愿景、使命与核心价值观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企业精神与文化内核</a:t>
            </a:r>
            <a:endParaRPr/>
          </a:p>
        </p:txBody>
      </p:sp>
      <p:sp>
        <p:nvSpPr>
          <p:cNvPr id="2118037003" name="AutoShape 10"/>
          <p:cNvSpPr/>
          <p:nvPr/>
        </p:nvSpPr>
        <p:spPr bwMode="auto">
          <a:xfrm rot="0" flipH="0" flipV="0">
            <a:off x="762000" y="29845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80097151" name="Picture 11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rot="0" flipH="0" flipV="0">
            <a:off x="1016000" y="3213100"/>
            <a:ext cx="558800" cy="558800"/>
          </a:xfrm>
          <a:prstGeom prst="rect">
            <a:avLst/>
          </a:prstGeom>
        </p:spPr>
      </p:pic>
      <p:sp>
        <p:nvSpPr>
          <p:cNvPr id="826946385" name="AutoShape 12"/>
          <p:cNvSpPr/>
          <p:nvPr/>
        </p:nvSpPr>
        <p:spPr bwMode="auto">
          <a:xfrm rot="0" flipH="0" flipV="0">
            <a:off x="1701800" y="31115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03 总体战略目标与核心战略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五年发展蓝图与战略主线</a:t>
            </a:r>
            <a:endParaRPr/>
          </a:p>
        </p:txBody>
      </p:sp>
      <p:sp>
        <p:nvSpPr>
          <p:cNvPr id="2021546842" name="AutoShape 13"/>
          <p:cNvSpPr/>
          <p:nvPr/>
        </p:nvSpPr>
        <p:spPr bwMode="auto">
          <a:xfrm rot="0" flipH="0" flipV="0">
            <a:off x="6223000" y="29845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77838631" name="Picture 14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0" flipH="0" flipV="0">
            <a:off x="6477000" y="3213100"/>
            <a:ext cx="558800" cy="558800"/>
          </a:xfrm>
          <a:prstGeom prst="rect">
            <a:avLst/>
          </a:prstGeom>
        </p:spPr>
      </p:pic>
      <p:sp>
        <p:nvSpPr>
          <p:cNvPr id="307275054" name="AutoShape 15"/>
          <p:cNvSpPr/>
          <p:nvPr/>
        </p:nvSpPr>
        <p:spPr bwMode="auto">
          <a:xfrm rot="0" flipH="0" flipV="0">
            <a:off x="7162800" y="31115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04 业务板块战略规划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各业务单元的具体发展路径</a:t>
            </a:r>
            <a:endParaRPr/>
          </a:p>
        </p:txBody>
      </p:sp>
      <p:sp>
        <p:nvSpPr>
          <p:cNvPr id="311722315" name="AutoShape 16"/>
          <p:cNvSpPr/>
          <p:nvPr/>
        </p:nvSpPr>
        <p:spPr bwMode="auto">
          <a:xfrm rot="0" flipH="0" flipV="0">
            <a:off x="762000" y="41910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21375722" name="Picture 17"/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 bwMode="auto">
          <a:xfrm rot="0" flipH="0" flipV="0">
            <a:off x="1016000" y="4419600"/>
            <a:ext cx="558800" cy="558800"/>
          </a:xfrm>
          <a:prstGeom prst="rect">
            <a:avLst/>
          </a:prstGeom>
        </p:spPr>
      </p:pic>
      <p:sp>
        <p:nvSpPr>
          <p:cNvPr id="33602537" name="AutoShape 18"/>
          <p:cNvSpPr/>
          <p:nvPr/>
        </p:nvSpPr>
        <p:spPr bwMode="auto">
          <a:xfrm rot="0" flipH="0" flipV="0">
            <a:off x="1701800" y="4318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05 关键战略举措与实施路径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落地执行的关键动作与时间表</a:t>
            </a:r>
            <a:endParaRPr/>
          </a:p>
        </p:txBody>
      </p:sp>
      <p:sp>
        <p:nvSpPr>
          <p:cNvPr id="1471148200" name="AutoShape 19"/>
          <p:cNvSpPr/>
          <p:nvPr/>
        </p:nvSpPr>
        <p:spPr bwMode="auto">
          <a:xfrm rot="0" flipH="0" flipV="0">
            <a:off x="6223000" y="41910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92722325" name="Picture 20"/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 bwMode="auto">
          <a:xfrm rot="0" flipH="0" flipV="0">
            <a:off x="6477000" y="4419600"/>
            <a:ext cx="558800" cy="558800"/>
          </a:xfrm>
          <a:prstGeom prst="rect">
            <a:avLst/>
          </a:prstGeom>
        </p:spPr>
      </p:pic>
      <p:sp>
        <p:nvSpPr>
          <p:cNvPr id="526139946" name="AutoShape 21"/>
          <p:cNvSpPr/>
          <p:nvPr/>
        </p:nvSpPr>
        <p:spPr bwMode="auto">
          <a:xfrm rot="0" flipH="0" flipV="0">
            <a:off x="7162800" y="4318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06 资源保障与风险管控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人力、财务支持与风险预案</a:t>
            </a:r>
            <a:endParaRPr/>
          </a:p>
        </p:txBody>
      </p:sp>
      <p:sp>
        <p:nvSpPr>
          <p:cNvPr id="591838285" name="AutoShape 22"/>
          <p:cNvSpPr/>
          <p:nvPr/>
        </p:nvSpPr>
        <p:spPr bwMode="auto">
          <a:xfrm rot="0" flipH="0" flipV="0">
            <a:off x="3492500" y="5397500"/>
            <a:ext cx="5207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45984744" name="Picture 23"/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 bwMode="auto">
          <a:xfrm rot="0" flipH="0" flipV="0">
            <a:off x="3746500" y="5626100"/>
            <a:ext cx="558800" cy="558800"/>
          </a:xfrm>
          <a:prstGeom prst="rect">
            <a:avLst/>
          </a:prstGeom>
        </p:spPr>
      </p:pic>
      <p:sp>
        <p:nvSpPr>
          <p:cNvPr id="13589237" name="AutoShape 24"/>
          <p:cNvSpPr/>
          <p:nvPr/>
        </p:nvSpPr>
        <p:spPr bwMode="auto">
          <a:xfrm rot="0" flipH="0" flipV="0">
            <a:off x="4432300" y="55245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07 总结与展望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未来展望与下一步行动计划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801843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战略背景与形势分析</a:t>
            </a:r>
            <a:endParaRPr lang="en-US" sz="1100"/>
          </a:p>
        </p:txBody>
      </p:sp>
      <p:cxnSp>
        <p:nvCxnSpPr>
          <p:cNvPr id="1822908226" name="Connector 3"/>
          <p:cNvCxnSpPr/>
          <p:nvPr/>
        </p:nvCxnSpPr>
        <p:spPr bwMode="auto">
          <a:xfrm rot="-42968" flipH="0" flipV="0">
            <a:off x="762040" y="17716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EAB308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55214702" name="AutoShape 4"/>
          <p:cNvSpPr/>
          <p:nvPr/>
        </p:nvSpPr>
        <p:spPr bwMode="auto">
          <a:xfrm rot="0" flipH="0" flipV="0">
            <a:off x="762000" y="2159000"/>
            <a:ext cx="5334000" cy="1079500"/>
          </a:xfrm>
          <a:prstGeom prst="roundRect">
            <a:avLst>
              <a:gd name="adj" fmla="val 11764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78441202" name="Picture 5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349500"/>
            <a:ext cx="406400" cy="406400"/>
          </a:xfrm>
          <a:prstGeom prst="rect">
            <a:avLst/>
          </a:prstGeom>
        </p:spPr>
      </p:pic>
      <p:sp>
        <p:nvSpPr>
          <p:cNvPr id="1134183731" name="AutoShape 6"/>
          <p:cNvSpPr/>
          <p:nvPr/>
        </p:nvSpPr>
        <p:spPr bwMode="auto">
          <a:xfrm rot="0" flipH="0" flipV="0">
            <a:off x="1587500" y="2311399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宏观环境分析 (PEST)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深入研判政治、经济、社会及技术环境变化，把握宏观政策导向与市场趋势。</a:t>
            </a:r>
            <a:endParaRPr/>
          </a:p>
        </p:txBody>
      </p:sp>
      <p:sp>
        <p:nvSpPr>
          <p:cNvPr id="1463562592" name="AutoShape 7"/>
          <p:cNvSpPr/>
          <p:nvPr/>
        </p:nvSpPr>
        <p:spPr bwMode="auto">
          <a:xfrm rot="0" flipH="0" flipV="0">
            <a:off x="762000" y="3365500"/>
            <a:ext cx="5334000" cy="1079500"/>
          </a:xfrm>
          <a:prstGeom prst="roundRect">
            <a:avLst>
              <a:gd name="adj" fmla="val 11764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85870397" name="Picture 8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1016000" y="3556000"/>
            <a:ext cx="406400" cy="406400"/>
          </a:xfrm>
          <a:prstGeom prst="rect">
            <a:avLst/>
          </a:prstGeom>
        </p:spPr>
      </p:pic>
      <p:sp>
        <p:nvSpPr>
          <p:cNvPr id="1249440610" name="AutoShape 9"/>
          <p:cNvSpPr/>
          <p:nvPr/>
        </p:nvSpPr>
        <p:spPr bwMode="auto">
          <a:xfrm rot="0" flipH="0" flipV="0">
            <a:off x="1587500" y="35179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行业竞争格局分析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剖析行业发展趋势，对标主要竞争对手，挖掘潜在的市场机会与切入点。</a:t>
            </a:r>
            <a:endParaRPr/>
          </a:p>
        </p:txBody>
      </p:sp>
      <p:sp>
        <p:nvSpPr>
          <p:cNvPr id="1055066192" name="AutoShape 10"/>
          <p:cNvSpPr/>
          <p:nvPr/>
        </p:nvSpPr>
        <p:spPr bwMode="auto">
          <a:xfrm rot="0" flipH="0" flipV="0">
            <a:off x="762000" y="4572000"/>
            <a:ext cx="5334000" cy="1079500"/>
          </a:xfrm>
          <a:prstGeom prst="roundRect">
            <a:avLst>
              <a:gd name="adj" fmla="val 11764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99815673" name="Picture 11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rot="0" flipH="0" flipV="0">
            <a:off x="1016000" y="4762500"/>
            <a:ext cx="406400" cy="406400"/>
          </a:xfrm>
          <a:prstGeom prst="rect">
            <a:avLst/>
          </a:prstGeom>
        </p:spPr>
      </p:pic>
      <p:sp>
        <p:nvSpPr>
          <p:cNvPr id="1712709588" name="AutoShape 12"/>
          <p:cNvSpPr/>
          <p:nvPr/>
        </p:nvSpPr>
        <p:spPr bwMode="auto">
          <a:xfrm rot="0" flipH="0" flipV="0">
            <a:off x="1587500" y="4724399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内部能力评估 (SWOT)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全面盘点集团核心优势与劣势，识别内部资源与能力短板，明确改进方向。</a:t>
            </a:r>
            <a:endParaRPr/>
          </a:p>
        </p:txBody>
      </p:sp>
      <p:sp>
        <p:nvSpPr>
          <p:cNvPr id="1626707352" name="AutoShape 13"/>
          <p:cNvSpPr/>
          <p:nvPr/>
        </p:nvSpPr>
        <p:spPr bwMode="auto">
          <a:xfrm rot="0" flipH="0" flipV="0">
            <a:off x="6350000" y="2159000"/>
            <a:ext cx="5080000" cy="3492500"/>
          </a:xfrm>
          <a:prstGeom prst="roundRect">
            <a:avLst>
              <a:gd name="adj" fmla="val 363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34191063" name="Picture 14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0" flipH="0" flipV="0">
            <a:off x="8432800" y="2413000"/>
            <a:ext cx="914400" cy="914400"/>
          </a:xfrm>
          <a:prstGeom prst="rect">
            <a:avLst/>
          </a:prstGeom>
        </p:spPr>
      </p:pic>
      <p:sp>
        <p:nvSpPr>
          <p:cNvPr id="1772442623" name="AutoShape 15"/>
          <p:cNvSpPr/>
          <p:nvPr/>
        </p:nvSpPr>
        <p:spPr bwMode="auto">
          <a:xfrm rot="0" flipH="0" flipV="0">
            <a:off x="6604000" y="34290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战略态势雷达图</a:t>
            </a:r>
            <a:endParaRPr lang="en-US" sz="1100"/>
          </a:p>
        </p:txBody>
      </p:sp>
      <p:cxnSp>
        <p:nvCxnSpPr>
          <p:cNvPr id="176809948" name="Connector 16"/>
          <p:cNvCxnSpPr/>
          <p:nvPr/>
        </p:nvCxnSpPr>
        <p:spPr bwMode="auto">
          <a:xfrm rot="-10741" flipH="0" flipV="0">
            <a:off x="6858010" y="393065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58049539" name="Connector 17"/>
          <p:cNvCxnSpPr/>
          <p:nvPr/>
        </p:nvCxnSpPr>
        <p:spPr bwMode="auto">
          <a:xfrm rot="-10741" flipH="0" flipV="0">
            <a:off x="6858010" y="431165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4668729" name="Connector 18"/>
          <p:cNvCxnSpPr/>
          <p:nvPr/>
        </p:nvCxnSpPr>
        <p:spPr bwMode="auto">
          <a:xfrm rot="-10741" flipH="0" flipV="0">
            <a:off x="6858010" y="469265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62848141" name="AutoShape 19"/>
          <p:cNvSpPr/>
          <p:nvPr/>
        </p:nvSpPr>
        <p:spPr bwMode="auto">
          <a:xfrm rot="0" flipH="0" flipV="0">
            <a:off x="7112000" y="3886200"/>
            <a:ext cx="101600" cy="1016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9864979" name="AutoShape 20"/>
          <p:cNvSpPr/>
          <p:nvPr/>
        </p:nvSpPr>
        <p:spPr bwMode="auto">
          <a:xfrm rot="0" flipH="0" flipV="0">
            <a:off x="8636000" y="4267200"/>
            <a:ext cx="101600" cy="1016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51930875" name="AutoShape 21"/>
          <p:cNvSpPr/>
          <p:nvPr/>
        </p:nvSpPr>
        <p:spPr bwMode="auto">
          <a:xfrm rot="0" flipH="0" flipV="0">
            <a:off x="10160000" y="4648200"/>
            <a:ext cx="101600" cy="1016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4271437" name="AutoShape 22"/>
          <p:cNvSpPr/>
          <p:nvPr/>
        </p:nvSpPr>
        <p:spPr bwMode="auto">
          <a:xfrm rot="0" flipH="0" flipV="0">
            <a:off x="6604000" y="49530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60000"/>
                  </a:srgbClr>
                </a:solidFill>
                <a:latin typeface="Noto Sans SC"/>
                <a:ea typeface="Noto Sans SC"/>
                <a:cs typeface="Noto Sans SC"/>
              </a:rPr>
              <a:t>综合分析显示：机遇与挑战并存，需重点突破核心业务壁垒。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A192F">
                <a:alpha val="100000"/>
              </a:srgbClr>
            </a:gs>
            <a:gs pos="100000">
              <a:srgbClr val="172A45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2518079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集团愿景、使命与核心价值观</a:t>
            </a:r>
            <a:endParaRPr lang="en-US" sz="1100"/>
          </a:p>
        </p:txBody>
      </p:sp>
      <p:sp>
        <p:nvSpPr>
          <p:cNvPr id="724701031" name="AutoShape 3"/>
          <p:cNvSpPr/>
          <p:nvPr/>
        </p:nvSpPr>
        <p:spPr bwMode="auto">
          <a:xfrm rot="0" flipH="0" flipV="0">
            <a:off x="762000" y="1778000"/>
            <a:ext cx="1016000" cy="50800"/>
          </a:xfrm>
          <a:prstGeom prst="roundRect">
            <a:avLst>
              <a:gd name="adj" fmla="val 0"/>
            </a:avLst>
          </a:prstGeom>
          <a:solidFill>
            <a:srgbClr val="D4AF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6861559" name="AutoShape 4"/>
          <p:cNvSpPr/>
          <p:nvPr/>
        </p:nvSpPr>
        <p:spPr bwMode="auto">
          <a:xfrm rot="0" flipH="0" flipV="0">
            <a:off x="762000" y="2286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91253291" name="Pictur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2095500" y="2667000"/>
            <a:ext cx="635000" cy="635000"/>
          </a:xfrm>
          <a:prstGeom prst="rect">
            <a:avLst/>
          </a:prstGeom>
        </p:spPr>
      </p:pic>
      <p:sp>
        <p:nvSpPr>
          <p:cNvPr id="1297291146" name="AutoShape 6"/>
          <p:cNvSpPr/>
          <p:nvPr/>
        </p:nvSpPr>
        <p:spPr bwMode="auto">
          <a:xfrm rot="0" flipH="0" flipV="0">
            <a:off x="1016000" y="3429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愿景 (Vision)</a:t>
            </a:r>
            <a:endParaRPr lang="en-US" sz="1100"/>
          </a:p>
        </p:txBody>
      </p:sp>
      <p:cxnSp>
        <p:nvCxnSpPr>
          <p:cNvPr id="795390267" name="Connector 7"/>
          <p:cNvCxnSpPr/>
          <p:nvPr/>
        </p:nvCxnSpPr>
        <p:spPr bwMode="auto">
          <a:xfrm rot="-21485" flipH="0" flipV="0">
            <a:off x="1397020" y="3867150"/>
            <a:ext cx="203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5842969" name="AutoShape 8"/>
          <p:cNvSpPr/>
          <p:nvPr/>
        </p:nvSpPr>
        <p:spPr bwMode="auto">
          <a:xfrm rot="0" flipH="0" flipV="0">
            <a:off x="1016000" y="4064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成为全球领先的XX行业解决方案提供商，引领行业发展方向。</a:t>
            </a:r>
            <a:endParaRPr lang="en-US" sz="1100"/>
          </a:p>
        </p:txBody>
      </p:sp>
      <p:sp>
        <p:nvSpPr>
          <p:cNvPr id="373863447" name="AutoShape 9"/>
          <p:cNvSpPr/>
          <p:nvPr/>
        </p:nvSpPr>
        <p:spPr bwMode="auto">
          <a:xfrm rot="0" flipH="0" flipV="0">
            <a:off x="4445000" y="2286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87294244" name="Picture 10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 rot="0" flipH="0" flipV="0">
            <a:off x="5778500" y="2667000"/>
            <a:ext cx="635000" cy="635000"/>
          </a:xfrm>
          <a:prstGeom prst="rect">
            <a:avLst/>
          </a:prstGeom>
        </p:spPr>
      </p:pic>
      <p:sp>
        <p:nvSpPr>
          <p:cNvPr id="704485499" name="AutoShape 11"/>
          <p:cNvSpPr/>
          <p:nvPr/>
        </p:nvSpPr>
        <p:spPr bwMode="auto">
          <a:xfrm rot="0" flipH="0" flipV="0">
            <a:off x="4699000" y="3429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使命 (Mission)</a:t>
            </a:r>
            <a:endParaRPr lang="en-US" sz="1100"/>
          </a:p>
        </p:txBody>
      </p:sp>
      <p:cxnSp>
        <p:nvCxnSpPr>
          <p:cNvPr id="552277939" name="Connector 12"/>
          <p:cNvCxnSpPr/>
          <p:nvPr/>
        </p:nvCxnSpPr>
        <p:spPr bwMode="auto">
          <a:xfrm rot="-21485" flipH="0" flipV="0">
            <a:off x="5080020" y="3867150"/>
            <a:ext cx="203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0219964" name="AutoShape 13"/>
          <p:cNvSpPr/>
          <p:nvPr/>
        </p:nvSpPr>
        <p:spPr bwMode="auto">
          <a:xfrm rot="0" flipH="0" flipV="0">
            <a:off x="4699000" y="4064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通过创新科技与卓越服务，为客户创造价值，推动行业进步与社会发展。</a:t>
            </a:r>
            <a:endParaRPr lang="en-US" sz="1100"/>
          </a:p>
        </p:txBody>
      </p:sp>
      <p:sp>
        <p:nvSpPr>
          <p:cNvPr id="556967534" name="AutoShape 14"/>
          <p:cNvSpPr/>
          <p:nvPr/>
        </p:nvSpPr>
        <p:spPr bwMode="auto">
          <a:xfrm rot="0" flipH="0" flipV="0">
            <a:off x="8128000" y="2286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86302588" name="Picture 15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rot="0" flipH="0" flipV="0">
            <a:off x="9461500" y="2667000"/>
            <a:ext cx="635000" cy="635000"/>
          </a:xfrm>
          <a:prstGeom prst="rect">
            <a:avLst/>
          </a:prstGeom>
        </p:spPr>
      </p:pic>
      <p:sp>
        <p:nvSpPr>
          <p:cNvPr id="1884244856" name="AutoShape 16"/>
          <p:cNvSpPr/>
          <p:nvPr/>
        </p:nvSpPr>
        <p:spPr bwMode="auto">
          <a:xfrm rot="0" flipH="0" flipV="0">
            <a:off x="8382000" y="3429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核心价值观 (Core Values)</a:t>
            </a:r>
            <a:endParaRPr lang="en-US" sz="1100"/>
          </a:p>
        </p:txBody>
      </p:sp>
      <p:cxnSp>
        <p:nvCxnSpPr>
          <p:cNvPr id="1008936547" name="Connector 17"/>
          <p:cNvCxnSpPr/>
          <p:nvPr/>
        </p:nvCxnSpPr>
        <p:spPr bwMode="auto">
          <a:xfrm rot="-21485" flipH="0" flipV="0">
            <a:off x="8763020" y="3867150"/>
            <a:ext cx="203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66086471" name="AutoShape 18"/>
          <p:cNvSpPr/>
          <p:nvPr/>
        </p:nvSpPr>
        <p:spPr bwMode="auto">
          <a:xfrm rot="0" flipH="0" flipV="0">
            <a:off x="8382000" y="4064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客户至上 · 创新驱动</a:t>
            </a:r>
            <a:endParaRPr lang="en-US" sz="1100"/>
          </a:p>
          <a:p>
            <a:pPr indent="0" algn="ctr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诚信正直 · 合作共赢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51198" name="AutoShape 2"/>
          <p:cNvSpPr/>
          <p:nvPr/>
        </p:nvSpPr>
        <p:spPr bwMode="auto">
          <a:xfrm rot="0" flipH="0" flipV="0"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总体战略目标与核心战略</a:t>
            </a:r>
            <a:endParaRPr lang="en-US" sz="1100"/>
          </a:p>
        </p:txBody>
      </p:sp>
      <p:sp>
        <p:nvSpPr>
          <p:cNvPr id="856015682" name="AutoShape 3"/>
          <p:cNvSpPr/>
          <p:nvPr/>
        </p:nvSpPr>
        <p:spPr bwMode="auto">
          <a:xfrm rot="0" flipH="0" flipV="0">
            <a:off x="762000" y="1651000"/>
            <a:ext cx="5207000" cy="4572000"/>
          </a:xfrm>
          <a:prstGeom prst="roundRect">
            <a:avLst>
              <a:gd name="adj" fmla="val 2777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31359" name="AutoShape 4"/>
          <p:cNvSpPr/>
          <p:nvPr/>
        </p:nvSpPr>
        <p:spPr bwMode="auto">
          <a:xfrm rot="0" flipH="0" flipV="0">
            <a:off x="1016000" y="1905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总体战略目标 (2026-2030)</a:t>
            </a:r>
            <a:endParaRPr lang="en-US" sz="1100"/>
          </a:p>
        </p:txBody>
      </p:sp>
      <p:cxnSp>
        <p:nvCxnSpPr>
          <p:cNvPr id="1943064320" name="Connector 5"/>
          <p:cNvCxnSpPr/>
          <p:nvPr/>
        </p:nvCxnSpPr>
        <p:spPr bwMode="auto">
          <a:xfrm rot="-9291" flipH="0" flipV="0">
            <a:off x="1016009" y="2343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BBF24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984716516" name="Picture 6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603500"/>
            <a:ext cx="406400" cy="406400"/>
          </a:xfrm>
          <a:prstGeom prst="rect">
            <a:avLst/>
          </a:prstGeom>
        </p:spPr>
      </p:pic>
      <p:sp>
        <p:nvSpPr>
          <p:cNvPr id="1912548550" name="AutoShape 7"/>
          <p:cNvSpPr/>
          <p:nvPr/>
        </p:nvSpPr>
        <p:spPr bwMode="auto">
          <a:xfrm rot="0" flipH="0" flipV="0">
            <a:off x="1524000" y="26035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营收增长目标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实现年复合增长率XX%，五年内达到XX亿元营收规模。</a:t>
            </a:r>
            <a:endParaRPr/>
          </a:p>
        </p:txBody>
      </p:sp>
      <p:pic>
        <p:nvPicPr>
          <p:cNvPr id="272100382" name="Picture 8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1016000" y="3492500"/>
            <a:ext cx="406400" cy="406400"/>
          </a:xfrm>
          <a:prstGeom prst="rect">
            <a:avLst/>
          </a:prstGeom>
        </p:spPr>
      </p:pic>
      <p:sp>
        <p:nvSpPr>
          <p:cNvPr id="556098150" name="AutoShape 9"/>
          <p:cNvSpPr/>
          <p:nvPr/>
        </p:nvSpPr>
        <p:spPr bwMode="auto">
          <a:xfrm rot="0" flipH="0" flipV="0">
            <a:off x="1524000" y="34925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市场地位跃升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成为国内XX领域的领导者，跻身全球前X强企业行列。</a:t>
            </a:r>
            <a:endParaRPr/>
          </a:p>
        </p:txBody>
      </p:sp>
      <p:pic>
        <p:nvPicPr>
          <p:cNvPr id="987495715" name="Picture 10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rot="0" flipH="0" flipV="0">
            <a:off x="1016000" y="4381500"/>
            <a:ext cx="406400" cy="406400"/>
          </a:xfrm>
          <a:prstGeom prst="rect">
            <a:avLst/>
          </a:prstGeom>
        </p:spPr>
      </p:pic>
      <p:sp>
        <p:nvSpPr>
          <p:cNvPr id="302491414" name="AutoShape 11"/>
          <p:cNvSpPr/>
          <p:nvPr/>
        </p:nvSpPr>
        <p:spPr bwMode="auto">
          <a:xfrm rot="0" flipH="0" flipV="0">
            <a:off x="1524000" y="43815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技术创新驱动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研发投入占比达到XX%，每年推出X款以上核心创新产品。</a:t>
            </a:r>
            <a:endParaRPr/>
          </a:p>
        </p:txBody>
      </p:sp>
      <p:sp>
        <p:nvSpPr>
          <p:cNvPr id="950371724" name="AutoShape 12"/>
          <p:cNvSpPr/>
          <p:nvPr/>
        </p:nvSpPr>
        <p:spPr bwMode="auto">
          <a:xfrm rot="0" flipH="0" flipV="0">
            <a:off x="6223000" y="1651000"/>
            <a:ext cx="5207000" cy="4572000"/>
          </a:xfrm>
          <a:prstGeom prst="roundRect">
            <a:avLst>
              <a:gd name="adj" fmla="val 2777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60275992" name="AutoShape 13"/>
          <p:cNvSpPr/>
          <p:nvPr/>
        </p:nvSpPr>
        <p:spPr bwMode="auto">
          <a:xfrm rot="0" flipH="0" flipV="0">
            <a:off x="6477000" y="1905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四大核心战略举措</a:t>
            </a:r>
            <a:endParaRPr lang="en-US" sz="1100"/>
          </a:p>
        </p:txBody>
      </p:sp>
      <p:cxnSp>
        <p:nvCxnSpPr>
          <p:cNvPr id="1296481465" name="Connector 14"/>
          <p:cNvCxnSpPr/>
          <p:nvPr/>
        </p:nvCxnSpPr>
        <p:spPr bwMode="auto">
          <a:xfrm rot="-9291" flipH="0" flipV="0">
            <a:off x="6477009" y="2343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BBF24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43058778" name="AutoShape 15"/>
          <p:cNvSpPr/>
          <p:nvPr/>
        </p:nvSpPr>
        <p:spPr bwMode="auto">
          <a:xfrm rot="0" flipH="0" flipV="0">
            <a:off x="6477000" y="2603500"/>
            <a:ext cx="4699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23181656" name="Picture 16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0" flipH="0" flipV="0">
            <a:off x="6667500" y="2832100"/>
            <a:ext cx="304800" cy="304800"/>
          </a:xfrm>
          <a:prstGeom prst="rect">
            <a:avLst/>
          </a:prstGeom>
        </p:spPr>
      </p:pic>
      <p:sp>
        <p:nvSpPr>
          <p:cNvPr id="24348337" name="AutoShape 17"/>
          <p:cNvSpPr/>
          <p:nvPr/>
        </p:nvSpPr>
        <p:spPr bwMode="auto">
          <a:xfrm rot="0" flipH="0" flipV="0">
            <a:off x="7048500" y="27305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创新驱动战略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构建开放创新生态，持续突破关键核心技术。</a:t>
            </a:r>
            <a:endParaRPr/>
          </a:p>
        </p:txBody>
      </p:sp>
      <p:sp>
        <p:nvSpPr>
          <p:cNvPr id="725356672" name="AutoShape 18"/>
          <p:cNvSpPr/>
          <p:nvPr/>
        </p:nvSpPr>
        <p:spPr bwMode="auto">
          <a:xfrm rot="0" flipH="0" flipV="0">
            <a:off x="6477000" y="3429000"/>
            <a:ext cx="4699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44054499" name="Picture 19"/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 bwMode="auto">
          <a:xfrm rot="0" flipH="0" flipV="0">
            <a:off x="6667500" y="3657600"/>
            <a:ext cx="304800" cy="304800"/>
          </a:xfrm>
          <a:prstGeom prst="rect">
            <a:avLst/>
          </a:prstGeom>
        </p:spPr>
      </p:pic>
      <p:sp>
        <p:nvSpPr>
          <p:cNvPr id="725646641" name="AutoShape 20"/>
          <p:cNvSpPr/>
          <p:nvPr/>
        </p:nvSpPr>
        <p:spPr bwMode="auto">
          <a:xfrm rot="0" flipH="0" flipV="0">
            <a:off x="7048500" y="35560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市场扩张战略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深耕国内市场，加速国际化布局，拓展新兴业务。</a:t>
            </a:r>
            <a:endParaRPr/>
          </a:p>
        </p:txBody>
      </p:sp>
      <p:sp>
        <p:nvSpPr>
          <p:cNvPr id="1372736470" name="AutoShape 21"/>
          <p:cNvSpPr/>
          <p:nvPr/>
        </p:nvSpPr>
        <p:spPr bwMode="auto">
          <a:xfrm rot="0" flipH="0" flipV="0">
            <a:off x="6477000" y="4254500"/>
            <a:ext cx="4699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18719777" name="Picture 22"/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 bwMode="auto">
          <a:xfrm rot="0" flipH="0" flipV="0">
            <a:off x="6667500" y="4483100"/>
            <a:ext cx="304800" cy="304800"/>
          </a:xfrm>
          <a:prstGeom prst="rect">
            <a:avLst/>
          </a:prstGeom>
        </p:spPr>
      </p:pic>
      <p:sp>
        <p:nvSpPr>
          <p:cNvPr id="1684199908" name="AutoShape 23"/>
          <p:cNvSpPr/>
          <p:nvPr/>
        </p:nvSpPr>
        <p:spPr bwMode="auto">
          <a:xfrm rot="0" flipH="0" flipV="0">
            <a:off x="7048500" y="43815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数字化转型战略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打造智慧企业，实现业务流程与管理的全面数字化。</a:t>
            </a:r>
            <a:endParaRPr/>
          </a:p>
        </p:txBody>
      </p:sp>
      <p:sp>
        <p:nvSpPr>
          <p:cNvPr id="1505953278" name="AutoShape 24"/>
          <p:cNvSpPr/>
          <p:nvPr/>
        </p:nvSpPr>
        <p:spPr bwMode="auto">
          <a:xfrm rot="0" flipH="0" flipV="0">
            <a:off x="6477000" y="5080000"/>
            <a:ext cx="4699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4647867" name="Picture 25"/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 bwMode="auto">
          <a:xfrm rot="0" flipH="0" flipV="0">
            <a:off x="6667500" y="5308600"/>
            <a:ext cx="304800" cy="304800"/>
          </a:xfrm>
          <a:prstGeom prst="rect">
            <a:avLst/>
          </a:prstGeom>
        </p:spPr>
      </p:pic>
      <p:sp>
        <p:nvSpPr>
          <p:cNvPr id="1272005624" name="AutoShape 26"/>
          <p:cNvSpPr/>
          <p:nvPr/>
        </p:nvSpPr>
        <p:spPr bwMode="auto">
          <a:xfrm rot="0" flipH="0" flipV="0">
            <a:off x="7048500" y="52070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人才发展战略</a:t>
            </a:r>
            <a:endParaRPr lang="en-US" sz="1100"/>
          </a:p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建立人才梯队，完善激励机制，打造高绩效团队。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9206464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业务板块战略规划</a:t>
            </a:r>
            <a:endParaRPr lang="en-US" sz="1100"/>
          </a:p>
        </p:txBody>
      </p:sp>
      <p:cxnSp>
        <p:nvCxnSpPr>
          <p:cNvPr id="1874275334" name="Connector 3"/>
          <p:cNvCxnSpPr/>
          <p:nvPr/>
        </p:nvCxnSpPr>
        <p:spPr bwMode="auto">
          <a:xfrm rot="-42968" flipH="0" flipV="0">
            <a:off x="762040" y="1771650"/>
            <a:ext cx="1016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F59E0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2077310592" name="AutoShape 4"/>
          <p:cNvSpPr/>
          <p:nvPr/>
        </p:nvSpPr>
        <p:spPr bwMode="auto">
          <a:xfrm rot="0" flipH="0" flipV="0">
            <a:off x="762000" y="2159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87956107" name="Picture 5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413000"/>
            <a:ext cx="406400" cy="406400"/>
          </a:xfrm>
          <a:prstGeom prst="rect">
            <a:avLst/>
          </a:prstGeom>
        </p:spPr>
      </p:pic>
      <p:sp>
        <p:nvSpPr>
          <p:cNvPr id="1885307011" name="AutoShape 6"/>
          <p:cNvSpPr/>
          <p:nvPr/>
        </p:nvSpPr>
        <p:spPr bwMode="auto">
          <a:xfrm rot="0" flipH="0" flipV="0">
            <a:off x="1524000" y="23876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业务板块 A：核心市场深耕</a:t>
            </a:r>
            <a:endParaRPr lang="en-US" sz="1100"/>
          </a:p>
        </p:txBody>
      </p:sp>
      <p:sp>
        <p:nvSpPr>
          <p:cNvPr id="1402343481" name="AutoShape 7"/>
          <p:cNvSpPr/>
          <p:nvPr/>
        </p:nvSpPr>
        <p:spPr bwMode="auto">
          <a:xfrm rot="0" flipH="0" flipV="0">
            <a:off x="1016000" y="2857500"/>
            <a:ext cx="469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定位：稳固核心市场份额，提升品牌溢价能力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目标：年度营收增长 15%，客户满意度达 95%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策略：优化供应链效率，推出高端定制化服务</a:t>
            </a:r>
            <a:endParaRPr/>
          </a:p>
        </p:txBody>
      </p:sp>
      <p:sp>
        <p:nvSpPr>
          <p:cNvPr id="1795149579" name="AutoShape 8"/>
          <p:cNvSpPr/>
          <p:nvPr/>
        </p:nvSpPr>
        <p:spPr bwMode="auto">
          <a:xfrm rot="0" flipH="0" flipV="0">
            <a:off x="6223000" y="2159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41692501" name="Picture 9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6477000" y="2413000"/>
            <a:ext cx="406400" cy="406400"/>
          </a:xfrm>
          <a:prstGeom prst="rect">
            <a:avLst/>
          </a:prstGeom>
        </p:spPr>
      </p:pic>
      <p:sp>
        <p:nvSpPr>
          <p:cNvPr id="1612404783" name="AutoShape 10"/>
          <p:cNvSpPr/>
          <p:nvPr/>
        </p:nvSpPr>
        <p:spPr bwMode="auto">
          <a:xfrm rot="0" flipH="0" flipV="0">
            <a:off x="6985000" y="23876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业务板块 B：全球化扩张</a:t>
            </a:r>
            <a:endParaRPr lang="en-US" sz="1100"/>
          </a:p>
        </p:txBody>
      </p:sp>
      <p:sp>
        <p:nvSpPr>
          <p:cNvPr id="1556662023" name="AutoShape 11"/>
          <p:cNvSpPr/>
          <p:nvPr/>
        </p:nvSpPr>
        <p:spPr bwMode="auto">
          <a:xfrm rot="0" flipH="0" flipV="0">
            <a:off x="6477000" y="2857500"/>
            <a:ext cx="469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定位：拓展东南亚及欧洲新兴市场，建立海外据点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目标：海外营收占比提升至 30%，建立 2 个区域中心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策略：本地化运营团队组建，跨境电商渠道铺设</a:t>
            </a:r>
            <a:endParaRPr/>
          </a:p>
        </p:txBody>
      </p:sp>
      <p:sp>
        <p:nvSpPr>
          <p:cNvPr id="1845070308" name="AutoShape 12"/>
          <p:cNvSpPr/>
          <p:nvPr/>
        </p:nvSpPr>
        <p:spPr bwMode="auto">
          <a:xfrm rot="0" flipH="0" flipV="0">
            <a:off x="762000" y="4318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47783732" name="Picture 13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rot="0" flipH="0" flipV="0">
            <a:off x="1016000" y="4572000"/>
            <a:ext cx="406400" cy="406400"/>
          </a:xfrm>
          <a:prstGeom prst="rect">
            <a:avLst/>
          </a:prstGeom>
        </p:spPr>
      </p:pic>
      <p:sp>
        <p:nvSpPr>
          <p:cNvPr id="697780035" name="AutoShape 14"/>
          <p:cNvSpPr/>
          <p:nvPr/>
        </p:nvSpPr>
        <p:spPr bwMode="auto">
          <a:xfrm rot="0" flipH="0" flipV="0">
            <a:off x="1524000" y="45466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业务板块 C：数字化转型</a:t>
            </a:r>
            <a:endParaRPr lang="en-US" sz="1100"/>
          </a:p>
        </p:txBody>
      </p:sp>
      <p:sp>
        <p:nvSpPr>
          <p:cNvPr id="945096250" name="AutoShape 15"/>
          <p:cNvSpPr/>
          <p:nvPr/>
        </p:nvSpPr>
        <p:spPr bwMode="auto">
          <a:xfrm rot="0" flipH="0" flipV="0">
            <a:off x="1016000" y="5016500"/>
            <a:ext cx="469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定位：构建数据驱动的智能决策体系，提升运营效能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目标：核心业务流程数字化率 100%，数据中台上线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策略：引入 AI 技术，实现自动化生产与精准营销</a:t>
            </a:r>
            <a:endParaRPr/>
          </a:p>
        </p:txBody>
      </p:sp>
      <p:sp>
        <p:nvSpPr>
          <p:cNvPr id="1069702024" name="AutoShape 16"/>
          <p:cNvSpPr/>
          <p:nvPr/>
        </p:nvSpPr>
        <p:spPr bwMode="auto">
          <a:xfrm rot="0" flipH="0" flipV="0">
            <a:off x="6223000" y="4318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80631685" name="Picture 17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0" flipH="0" flipV="0">
            <a:off x="6477000" y="4572000"/>
            <a:ext cx="406400" cy="406400"/>
          </a:xfrm>
          <a:prstGeom prst="rect">
            <a:avLst/>
          </a:prstGeom>
        </p:spPr>
      </p:pic>
      <p:sp>
        <p:nvSpPr>
          <p:cNvPr id="103903929" name="AutoShape 18"/>
          <p:cNvSpPr/>
          <p:nvPr/>
        </p:nvSpPr>
        <p:spPr bwMode="auto">
          <a:xfrm rot="0" flipH="0" flipV="0">
            <a:off x="6985000" y="45466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新兴业务探索：前瞻布局</a:t>
            </a:r>
            <a:endParaRPr lang="en-US" sz="1100"/>
          </a:p>
        </p:txBody>
      </p:sp>
      <p:sp>
        <p:nvSpPr>
          <p:cNvPr id="2049880915" name="AutoShape 19"/>
          <p:cNvSpPr/>
          <p:nvPr/>
        </p:nvSpPr>
        <p:spPr bwMode="auto">
          <a:xfrm rot="0" flipH="0" flipV="0">
            <a:off x="6477000" y="5016500"/>
            <a:ext cx="469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定位：孵化具有高增长潜力的前沿科技与绿色能源项目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目标：孵化 2-3 个创新项目，建立企业级创新实验室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策略：设立专项创投基金，加强产学研合作与技术并购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9801775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关键战略举措与实施路径</a:t>
            </a:r>
            <a:endParaRPr lang="en-US" sz="1100"/>
          </a:p>
        </p:txBody>
      </p:sp>
      <p:sp>
        <p:nvSpPr>
          <p:cNvPr id="962497208" name="AutoShape 3"/>
          <p:cNvSpPr/>
          <p:nvPr/>
        </p:nvSpPr>
        <p:spPr bwMode="auto">
          <a:xfrm rot="0" flipH="0" flipV="0">
            <a:off x="762000" y="2032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23506016" name="Picture 4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286000"/>
            <a:ext cx="406400" cy="406400"/>
          </a:xfrm>
          <a:prstGeom prst="rect">
            <a:avLst/>
          </a:prstGeom>
        </p:spPr>
      </p:pic>
      <p:sp>
        <p:nvSpPr>
          <p:cNvPr id="1150231823" name="AutoShape 5"/>
          <p:cNvSpPr/>
          <p:nvPr/>
        </p:nvSpPr>
        <p:spPr bwMode="auto">
          <a:xfrm rot="0" flipH="0" flipV="0">
            <a:off x="1524000" y="2260600"/>
            <a:ext cx="228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短期举措 (1-2年)</a:t>
            </a:r>
            <a:endParaRPr lang="en-US" sz="1100"/>
          </a:p>
        </p:txBody>
      </p:sp>
      <p:cxnSp>
        <p:nvCxnSpPr>
          <p:cNvPr id="1348071510" name="Connector 6"/>
          <p:cNvCxnSpPr/>
          <p:nvPr/>
        </p:nvCxnSpPr>
        <p:spPr bwMode="auto">
          <a:xfrm rot="-15626" flipH="0" flipV="0">
            <a:off x="1016014" y="2787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7082996" name="AutoShape 7"/>
          <p:cNvSpPr/>
          <p:nvPr/>
        </p:nvSpPr>
        <p:spPr bwMode="auto">
          <a:xfrm rot="0" flipH="0" flipV="0">
            <a:off x="1016000" y="2921000"/>
            <a:ext cx="2794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组织架构优化调整，提升决策效率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启动数字化转型重点项目建设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建立核心人才培养与激励机制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里程碑：完成一期系统上线</a:t>
            </a:r>
            <a:endParaRPr/>
          </a:p>
        </p:txBody>
      </p:sp>
      <p:sp>
        <p:nvSpPr>
          <p:cNvPr id="1553493486" name="AutoShape 8"/>
          <p:cNvSpPr/>
          <p:nvPr/>
        </p:nvSpPr>
        <p:spPr bwMode="auto">
          <a:xfrm rot="0" flipH="0" flipV="0">
            <a:off x="4445000" y="2032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18470113" name="Picture 9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4699000" y="2286000"/>
            <a:ext cx="406400" cy="406400"/>
          </a:xfrm>
          <a:prstGeom prst="rect">
            <a:avLst/>
          </a:prstGeom>
        </p:spPr>
      </p:pic>
      <p:sp>
        <p:nvSpPr>
          <p:cNvPr id="643029219" name="AutoShape 10"/>
          <p:cNvSpPr/>
          <p:nvPr/>
        </p:nvSpPr>
        <p:spPr bwMode="auto">
          <a:xfrm rot="0" flipH="0" flipV="0">
            <a:off x="5207000" y="2260600"/>
            <a:ext cx="228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中期举措 (3-4年)</a:t>
            </a:r>
            <a:endParaRPr lang="en-US" sz="1100"/>
          </a:p>
        </p:txBody>
      </p:sp>
      <p:cxnSp>
        <p:nvCxnSpPr>
          <p:cNvPr id="22682827" name="Connector 11"/>
          <p:cNvCxnSpPr/>
          <p:nvPr/>
        </p:nvCxnSpPr>
        <p:spPr bwMode="auto">
          <a:xfrm rot="-15626" flipH="0" flipV="0">
            <a:off x="4699014" y="2787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3922407" name="AutoShape 12"/>
          <p:cNvSpPr/>
          <p:nvPr/>
        </p:nvSpPr>
        <p:spPr bwMode="auto">
          <a:xfrm rot="0" flipH="0" flipV="0">
            <a:off x="4699000" y="2921000"/>
            <a:ext cx="2794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市场份额提升至行业Top 3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新产品矩阵全面上市推广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构建全渠道营销服务体系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里程碑：营收突破百亿大关</a:t>
            </a:r>
            <a:endParaRPr/>
          </a:p>
        </p:txBody>
      </p:sp>
      <p:sp>
        <p:nvSpPr>
          <p:cNvPr id="133153699" name="AutoShape 13"/>
          <p:cNvSpPr/>
          <p:nvPr/>
        </p:nvSpPr>
        <p:spPr bwMode="auto">
          <a:xfrm rot="0" flipH="0" flipV="0">
            <a:off x="8128000" y="2032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68812245" name="Picture 14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8382000" y="2286000"/>
            <a:ext cx="406400" cy="406400"/>
          </a:xfrm>
          <a:prstGeom prst="rect">
            <a:avLst/>
          </a:prstGeom>
        </p:spPr>
      </p:pic>
      <p:sp>
        <p:nvSpPr>
          <p:cNvPr id="1342928816" name="AutoShape 15"/>
          <p:cNvSpPr/>
          <p:nvPr/>
        </p:nvSpPr>
        <p:spPr bwMode="auto">
          <a:xfrm rot="0" flipH="0" flipV="0">
            <a:off x="8890000" y="2260600"/>
            <a:ext cx="228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长期举措 (5年及以后)</a:t>
            </a:r>
            <a:endParaRPr lang="en-US" sz="1100"/>
          </a:p>
        </p:txBody>
      </p:sp>
      <p:cxnSp>
        <p:nvCxnSpPr>
          <p:cNvPr id="1209727569" name="Connector 16"/>
          <p:cNvCxnSpPr/>
          <p:nvPr/>
        </p:nvCxnSpPr>
        <p:spPr bwMode="auto">
          <a:xfrm rot="-15626" flipH="0" flipV="0">
            <a:off x="8382014" y="2787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37574758" name="AutoShape 17"/>
          <p:cNvSpPr/>
          <p:nvPr/>
        </p:nvSpPr>
        <p:spPr bwMode="auto">
          <a:xfrm rot="0" flipH="0" flipV="0">
            <a:off x="8382000" y="2921000"/>
            <a:ext cx="2794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构建开放共赢的产业生态体系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推进全球化战略布局与落地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确立行业技术标准与话语权</a:t>
            </a:r>
            <a:endParaRPr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</a:rPr>
              <a:t>里程碑：成为全球行业标杆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68576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资源保障与风险管控</a:t>
            </a:r>
            <a:endParaRPr lang="en-US" sz="1100"/>
          </a:p>
        </p:txBody>
      </p:sp>
      <p:sp>
        <p:nvSpPr>
          <p:cNvPr id="359995284" name="AutoShape 3"/>
          <p:cNvSpPr/>
          <p:nvPr/>
        </p:nvSpPr>
        <p:spPr bwMode="auto">
          <a:xfrm rot="0" flipH="0" flipV="0">
            <a:off x="762000" y="2032000"/>
            <a:ext cx="5080000" cy="4064000"/>
          </a:xfrm>
          <a:prstGeom prst="roundRect">
            <a:avLst>
              <a:gd name="adj" fmla="val 3125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064198" name="AutoShape 4"/>
          <p:cNvSpPr/>
          <p:nvPr/>
        </p:nvSpPr>
        <p:spPr bwMode="auto">
          <a:xfrm rot="0" flipH="0" flipV="0">
            <a:off x="1016000" y="22860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全方位资源保障体系</a:t>
            </a:r>
            <a:endParaRPr lang="en-US" sz="1100"/>
          </a:p>
        </p:txBody>
      </p:sp>
      <p:cxnSp>
        <p:nvCxnSpPr>
          <p:cNvPr id="1862539036" name="Connector 5"/>
          <p:cNvCxnSpPr/>
          <p:nvPr/>
        </p:nvCxnSpPr>
        <p:spPr bwMode="auto">
          <a:xfrm rot="-9549" flipH="0" flipV="0">
            <a:off x="1016009" y="2724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BBF24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186438247" name="Picture 6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1016000" y="2984500"/>
            <a:ext cx="304800" cy="304800"/>
          </a:xfrm>
          <a:prstGeom prst="rect">
            <a:avLst/>
          </a:prstGeom>
        </p:spPr>
      </p:pic>
      <p:sp>
        <p:nvSpPr>
          <p:cNvPr id="476808981" name="AutoShape 7"/>
          <p:cNvSpPr/>
          <p:nvPr/>
        </p:nvSpPr>
        <p:spPr bwMode="auto">
          <a:xfrm rot="0" flipH="0" flipV="0">
            <a:off x="1460500" y="2946400"/>
            <a:ext cx="4127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人力资源支持</a:t>
            </a:r>
            <a:endParaRPr lang="en-US" sz="1100"/>
          </a:p>
        </p:txBody>
      </p:sp>
      <p:sp>
        <p:nvSpPr>
          <p:cNvPr id="511601780" name="AutoShape 8"/>
          <p:cNvSpPr/>
          <p:nvPr/>
        </p:nvSpPr>
        <p:spPr bwMode="auto">
          <a:xfrm rot="0" flipH="0" flipV="0">
            <a:off x="1460500" y="3276600"/>
            <a:ext cx="4127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实施人才引进与培养计划，重点打造核心技术团队与管理梯队。</a:t>
            </a:r>
            <a:endParaRPr lang="en-US" sz="1100"/>
          </a:p>
        </p:txBody>
      </p:sp>
      <p:pic>
        <p:nvPicPr>
          <p:cNvPr id="1209022849" name="Picture 9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1016000" y="3873500"/>
            <a:ext cx="304800" cy="304800"/>
          </a:xfrm>
          <a:prstGeom prst="rect">
            <a:avLst/>
          </a:prstGeom>
        </p:spPr>
      </p:pic>
      <p:sp>
        <p:nvSpPr>
          <p:cNvPr id="764046457" name="AutoShape 10"/>
          <p:cNvSpPr/>
          <p:nvPr/>
        </p:nvSpPr>
        <p:spPr bwMode="auto">
          <a:xfrm rot="0" flipH="0" flipV="0">
            <a:off x="1460500" y="3835400"/>
            <a:ext cx="4127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财务资源配置</a:t>
            </a:r>
            <a:endParaRPr lang="en-US" sz="1100"/>
          </a:p>
        </p:txBody>
      </p:sp>
      <p:sp>
        <p:nvSpPr>
          <p:cNvPr id="1641099163" name="AutoShape 11"/>
          <p:cNvSpPr/>
          <p:nvPr/>
        </p:nvSpPr>
        <p:spPr bwMode="auto">
          <a:xfrm rot="0" flipH="0" flipV="0">
            <a:off x="1460500" y="4165600"/>
            <a:ext cx="4127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科学规划年度预算，多渠道筹措资金，确保战略项目的足额投入。</a:t>
            </a:r>
            <a:endParaRPr lang="en-US" sz="1100"/>
          </a:p>
        </p:txBody>
      </p:sp>
      <p:pic>
        <p:nvPicPr>
          <p:cNvPr id="856457551" name="Picture 12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1016000" y="4762500"/>
            <a:ext cx="304800" cy="304800"/>
          </a:xfrm>
          <a:prstGeom prst="rect">
            <a:avLst/>
          </a:prstGeom>
        </p:spPr>
      </p:pic>
      <p:sp>
        <p:nvSpPr>
          <p:cNvPr id="667794906" name="AutoShape 13"/>
          <p:cNvSpPr/>
          <p:nvPr/>
        </p:nvSpPr>
        <p:spPr bwMode="auto">
          <a:xfrm rot="0" flipH="0" flipV="0">
            <a:off x="1460500" y="4724399"/>
            <a:ext cx="4127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技术研发平台</a:t>
            </a:r>
            <a:endParaRPr lang="en-US" sz="1100"/>
          </a:p>
        </p:txBody>
      </p:sp>
      <p:sp>
        <p:nvSpPr>
          <p:cNvPr id="2083913488" name="AutoShape 14"/>
          <p:cNvSpPr/>
          <p:nvPr/>
        </p:nvSpPr>
        <p:spPr bwMode="auto">
          <a:xfrm rot="0" flipH="0" flipV="0">
            <a:off x="1460500" y="5054600"/>
            <a:ext cx="4127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建设先进研发平台，集中优势力量攻克核心技术难题，构筑技术壁垒。</a:t>
            </a:r>
            <a:endParaRPr lang="en-US" sz="1100"/>
          </a:p>
        </p:txBody>
      </p:sp>
      <p:sp>
        <p:nvSpPr>
          <p:cNvPr id="1108809789" name="AutoShape 15"/>
          <p:cNvSpPr/>
          <p:nvPr/>
        </p:nvSpPr>
        <p:spPr bwMode="auto">
          <a:xfrm rot="0" flipH="0" flipV="0">
            <a:off x="6350000" y="2032000"/>
            <a:ext cx="5080000" cy="4064000"/>
          </a:xfrm>
          <a:prstGeom prst="roundRect">
            <a:avLst>
              <a:gd name="adj" fmla="val 3125"/>
            </a:avLst>
          </a:prstGeom>
          <a:solidFill>
            <a:srgbClr val="FFFFFF">
              <a:alpha val="7999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90392665" name="AutoShape 16"/>
          <p:cNvSpPr/>
          <p:nvPr/>
        </p:nvSpPr>
        <p:spPr bwMode="auto">
          <a:xfrm rot="0" flipH="0" flipV="0">
            <a:off x="6604000" y="22860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</a:rPr>
              <a:t>全流程风险管控机制</a:t>
            </a:r>
            <a:endParaRPr lang="en-US" sz="1100"/>
          </a:p>
        </p:txBody>
      </p:sp>
      <p:cxnSp>
        <p:nvCxnSpPr>
          <p:cNvPr id="1271535760" name="Connector 17"/>
          <p:cNvCxnSpPr/>
          <p:nvPr/>
        </p:nvCxnSpPr>
        <p:spPr bwMode="auto">
          <a:xfrm rot="-9549" flipH="0" flipV="0">
            <a:off x="6604009" y="2724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BBF24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60433818" name="Picture 18"/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 bwMode="auto">
          <a:xfrm rot="0" flipH="0" flipV="0">
            <a:off x="6604000" y="2984500"/>
            <a:ext cx="304800" cy="304800"/>
          </a:xfrm>
          <a:prstGeom prst="rect">
            <a:avLst/>
          </a:prstGeom>
        </p:spPr>
      </p:pic>
      <p:sp>
        <p:nvSpPr>
          <p:cNvPr id="357531827" name="AutoShape 19"/>
          <p:cNvSpPr/>
          <p:nvPr/>
        </p:nvSpPr>
        <p:spPr bwMode="auto">
          <a:xfrm rot="0" flipH="0" flipV="0">
            <a:off x="7048500" y="2946400"/>
            <a:ext cx="4127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多维度风险识别</a:t>
            </a:r>
            <a:endParaRPr lang="en-US" sz="1100"/>
          </a:p>
        </p:txBody>
      </p:sp>
      <p:sp>
        <p:nvSpPr>
          <p:cNvPr id="1541384232" name="AutoShape 20"/>
          <p:cNvSpPr/>
          <p:nvPr/>
        </p:nvSpPr>
        <p:spPr bwMode="auto">
          <a:xfrm rot="0" flipH="0" flipV="0">
            <a:off x="7048500" y="3276600"/>
            <a:ext cx="4127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建立全面的风险评估体系，重点识别市场波动、技术迭代及运营管理中的潜在风险点。</a:t>
            </a:r>
            <a:endParaRPr lang="en-US" sz="1100"/>
          </a:p>
        </p:txBody>
      </p:sp>
      <p:pic>
        <p:nvPicPr>
          <p:cNvPr id="900853587" name="Picture 21"/>
          <p:cNvPicPr>
            <a:picLocks noChangeAspect="1"/>
          </p:cNvPicPr>
          <p:nvPr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 bwMode="auto">
          <a:xfrm rot="0" flipH="0" flipV="0">
            <a:off x="6604000" y="4254500"/>
            <a:ext cx="304800" cy="304800"/>
          </a:xfrm>
          <a:prstGeom prst="rect">
            <a:avLst/>
          </a:prstGeom>
        </p:spPr>
      </p:pic>
      <p:sp>
        <p:nvSpPr>
          <p:cNvPr id="534230383" name="AutoShape 22"/>
          <p:cNvSpPr/>
          <p:nvPr/>
        </p:nvSpPr>
        <p:spPr bwMode="auto">
          <a:xfrm rot="0" flipH="0" flipV="0">
            <a:off x="7048500" y="4216400"/>
            <a:ext cx="4127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主动式应对策略</a:t>
            </a:r>
            <a:endParaRPr lang="en-US" sz="1100"/>
          </a:p>
        </p:txBody>
      </p:sp>
      <p:sp>
        <p:nvSpPr>
          <p:cNvPr id="1003659883" name="AutoShape 23"/>
          <p:cNvSpPr/>
          <p:nvPr/>
        </p:nvSpPr>
        <p:spPr bwMode="auto">
          <a:xfrm rot="0" flipH="0" flipV="0">
            <a:off x="7048500" y="4546600"/>
            <a:ext cx="4127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构建实时风险预警机制，制定分级应急预案，确保在风险发生时能迅速响应，降低损失。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6339003" name="AutoShape 2"/>
          <p:cNvSpPr/>
          <p:nvPr/>
        </p:nvSpPr>
        <p:spPr bwMode="auto">
          <a:xfrm rot="0" flipH="0" flipV="0"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总结与展望</a:t>
            </a:r>
            <a:endParaRPr lang="en-US" sz="1100"/>
          </a:p>
        </p:txBody>
      </p:sp>
      <p:cxnSp>
        <p:nvCxnSpPr>
          <p:cNvPr id="1666301615" name="Connector 3"/>
          <p:cNvCxnSpPr/>
          <p:nvPr/>
        </p:nvCxnSpPr>
        <p:spPr bwMode="auto">
          <a:xfrm rot="-42968" flipH="0" flipV="0">
            <a:off x="762040" y="1771650"/>
            <a:ext cx="1016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50800" cap="flat" cmpd="sng">
            <a:solidFill>
              <a:srgbClr val="F59E0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911074252" name="AutoShape 4"/>
          <p:cNvSpPr/>
          <p:nvPr/>
        </p:nvSpPr>
        <p:spPr bwMode="auto">
          <a:xfrm rot="0" flipH="0" flipV="0">
            <a:off x="762000" y="2286000"/>
            <a:ext cx="3302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03280359" name="Picture 5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2095500" y="2667000"/>
            <a:ext cx="635000" cy="635000"/>
          </a:xfrm>
          <a:prstGeom prst="rect">
            <a:avLst/>
          </a:prstGeom>
        </p:spPr>
      </p:pic>
      <p:sp>
        <p:nvSpPr>
          <p:cNvPr id="322975452" name="AutoShape 6"/>
          <p:cNvSpPr/>
          <p:nvPr/>
        </p:nvSpPr>
        <p:spPr bwMode="auto">
          <a:xfrm rot="0" flipH="0" flipV="0">
            <a:off x="889000" y="342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核心总结</a:t>
            </a:r>
            <a:endParaRPr lang="en-US" sz="1100"/>
          </a:p>
        </p:txBody>
      </p:sp>
      <p:sp>
        <p:nvSpPr>
          <p:cNvPr id="1691518460" name="AutoShape 7"/>
          <p:cNvSpPr/>
          <p:nvPr/>
        </p:nvSpPr>
        <p:spPr bwMode="auto">
          <a:xfrm rot="0" flipH="0" flipV="0">
            <a:off x="952500" y="3937000"/>
            <a:ext cx="2921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回顾本次战略规划的核心内容，强调战略的重要性和可行性，确保全员对目标的深刻理解与认同。</a:t>
            </a:r>
            <a:endParaRPr lang="en-US" sz="1100"/>
          </a:p>
        </p:txBody>
      </p:sp>
      <p:sp>
        <p:nvSpPr>
          <p:cNvPr id="1817756413" name="AutoShape 8"/>
          <p:cNvSpPr/>
          <p:nvPr/>
        </p:nvSpPr>
        <p:spPr bwMode="auto">
          <a:xfrm rot="0" flipH="0" flipV="0">
            <a:off x="4445000" y="2286000"/>
            <a:ext cx="3302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37328241" name="Picture 9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5778500" y="2667000"/>
            <a:ext cx="635000" cy="635000"/>
          </a:xfrm>
          <a:prstGeom prst="rect">
            <a:avLst/>
          </a:prstGeom>
        </p:spPr>
      </p:pic>
      <p:sp>
        <p:nvSpPr>
          <p:cNvPr id="1966613214" name="AutoShape 10"/>
          <p:cNvSpPr/>
          <p:nvPr/>
        </p:nvSpPr>
        <p:spPr bwMode="auto">
          <a:xfrm rot="0" flipH="0" flipV="0">
            <a:off x="4572000" y="342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未来展望</a:t>
            </a:r>
            <a:endParaRPr lang="en-US" sz="1100"/>
          </a:p>
        </p:txBody>
      </p:sp>
      <p:sp>
        <p:nvSpPr>
          <p:cNvPr id="1387769162" name="AutoShape 11"/>
          <p:cNvSpPr/>
          <p:nvPr/>
        </p:nvSpPr>
        <p:spPr bwMode="auto">
          <a:xfrm rot="0" flipH="0" flipV="0">
            <a:off x="4635500" y="3937000"/>
            <a:ext cx="2921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激励团队共同努力，聚焦创新与增长，为实现集团宏伟蓝图而奋斗，把握未来五年的发展机遇。</a:t>
            </a:r>
            <a:endParaRPr lang="en-US" sz="1100"/>
          </a:p>
        </p:txBody>
      </p:sp>
      <p:sp>
        <p:nvSpPr>
          <p:cNvPr id="2054414379" name="AutoShape 12"/>
          <p:cNvSpPr/>
          <p:nvPr/>
        </p:nvSpPr>
        <p:spPr bwMode="auto">
          <a:xfrm rot="0" flipH="0" flipV="0">
            <a:off x="8128000" y="2286000"/>
            <a:ext cx="3302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98402739" name="Picture 13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rot="0" flipH="0" flipV="0">
            <a:off x="9461500" y="2667000"/>
            <a:ext cx="635000" cy="635000"/>
          </a:xfrm>
          <a:prstGeom prst="rect">
            <a:avLst/>
          </a:prstGeom>
        </p:spPr>
      </p:pic>
      <p:sp>
        <p:nvSpPr>
          <p:cNvPr id="1283701560" name="AutoShape 14"/>
          <p:cNvSpPr/>
          <p:nvPr/>
        </p:nvSpPr>
        <p:spPr bwMode="auto">
          <a:xfrm rot="0" flipH="0" flipV="0">
            <a:off x="8255000" y="342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行动号召</a:t>
            </a:r>
            <a:endParaRPr lang="en-US" sz="1100"/>
          </a:p>
        </p:txBody>
      </p:sp>
      <p:sp>
        <p:nvSpPr>
          <p:cNvPr id="861284718" name="AutoShape 15"/>
          <p:cNvSpPr/>
          <p:nvPr/>
        </p:nvSpPr>
        <p:spPr bwMode="auto">
          <a:xfrm rot="0" flipH="0" flipV="0">
            <a:off x="8318500" y="3937000"/>
            <a:ext cx="2921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5E7EB">
                    <a:alpha val="90196"/>
                  </a:srgbClr>
                </a:solidFill>
                <a:latin typeface="Noto Sans SC"/>
                <a:ea typeface="Noto Sans SC"/>
                <a:cs typeface="Noto Sans SC"/>
              </a:rPr>
              <a:t>号召全体员工积极投身到战略实施中，凝聚共识，协同作战，共创集团美好的未来。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2178808" name="AutoShape 2"/>
          <p:cNvSpPr/>
          <p:nvPr/>
        </p:nvSpPr>
        <p:spPr bwMode="auto">
          <a:xfrm rot="0" flipH="0" flipV="0">
            <a:off x="0" y="0"/>
            <a:ext cx="12192000" cy="762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47484173" name="AutoShape 3"/>
          <p:cNvSpPr/>
          <p:nvPr/>
        </p:nvSpPr>
        <p:spPr bwMode="auto">
          <a:xfrm rot="0" flipH="0" flipV="0">
            <a:off x="1016000" y="2032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感谢聆听</a:t>
            </a:r>
            <a:endParaRPr lang="en-US" sz="1100"/>
          </a:p>
        </p:txBody>
      </p:sp>
      <p:sp>
        <p:nvSpPr>
          <p:cNvPr id="1762941757" name="AutoShape 4"/>
          <p:cNvSpPr/>
          <p:nvPr/>
        </p:nvSpPr>
        <p:spPr bwMode="auto">
          <a:xfrm rot="0" flipH="0" flipV="0">
            <a:off x="1016000" y="2794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</a:rPr>
              <a:t>THANKS FOR LISTENING</a:t>
            </a:r>
            <a:endParaRPr lang="en-US" sz="1100"/>
          </a:p>
        </p:txBody>
      </p:sp>
      <p:cxnSp>
        <p:nvCxnSpPr>
          <p:cNvPr id="819895496" name="Connector 5"/>
          <p:cNvCxnSpPr/>
          <p:nvPr/>
        </p:nvCxnSpPr>
        <p:spPr bwMode="auto">
          <a:xfrm rot="-34375" flipH="0" flipV="0">
            <a:off x="5461032" y="33591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F59E0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1916807194" name="Picture 6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5791200" y="3683000"/>
            <a:ext cx="609600" cy="609600"/>
          </a:xfrm>
          <a:prstGeom prst="rect">
            <a:avLst/>
          </a:prstGeom>
        </p:spPr>
      </p:pic>
      <p:sp>
        <p:nvSpPr>
          <p:cNvPr id="777859935" name="AutoShape 7"/>
          <p:cNvSpPr/>
          <p:nvPr/>
        </p:nvSpPr>
        <p:spPr bwMode="auto">
          <a:xfrm rot="0" flipH="0" flipV="0">
            <a:off x="3556000" y="4381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集团战略规划部</a:t>
            </a:r>
            <a:endParaRPr lang="en-US" sz="1100"/>
          </a:p>
        </p:txBody>
      </p:sp>
      <p:pic>
        <p:nvPicPr>
          <p:cNvPr id="761365277" name="Picture 8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4572000" y="5334000"/>
            <a:ext cx="203200" cy="203200"/>
          </a:xfrm>
          <a:prstGeom prst="rect">
            <a:avLst/>
          </a:prstGeom>
        </p:spPr>
      </p:pic>
      <p:sp>
        <p:nvSpPr>
          <p:cNvPr id="1242815998" name="AutoShape 9"/>
          <p:cNvSpPr/>
          <p:nvPr/>
        </p:nvSpPr>
        <p:spPr bwMode="auto">
          <a:xfrm rot="0" flipH="0" flipV="0">
            <a:off x="4826000" y="53086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</a:rPr>
              <a:t>联系电话：010-8888 6666</a:t>
            </a:r>
            <a:endParaRPr lang="en-US" sz="1100"/>
          </a:p>
        </p:txBody>
      </p:sp>
      <p:pic>
        <p:nvPicPr>
          <p:cNvPr id="1242932328" name="Picture 10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王芳</cp:lastModifiedBy>
  <cp:revision>1</cp:revision>
  <dcterms:modified xsi:type="dcterms:W3CDTF">2026-03-09T07:45:57Z</dcterms:modified>
</cp:coreProperties>
</file>